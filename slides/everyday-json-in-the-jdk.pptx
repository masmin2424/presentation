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JetBrains Mono" panose="02000009000000000000" pitchFamily="49"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font" Target="fonts/font1.fntdata"/><Relationship Id="rId26"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Goal of the next 20 minutes: business people should leave understanding why a JSON API in the JDK matters; developers should leave having seen it run and wanting to try it. Agenda: why, what a JEP is, the API, before/after, what it means for our Java 21/25 apps, demo,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Java developers' own words, not with ours. These are paraphrased comments from the Hacker News thread on JEP 540, kept only from people who clearly write Java themselves (they mention their own Java code, Jackson, Gson, JSR-367 / JSON-B, JShell or a JDK version), and only where JEP 540 actually solves the problem: (1) dependency overhead for simple JSON work, (2) JSON should be standard in the JDK, (3) easy and safe navigation of arbitrary JSON. Most commenters don't say which Java version they use; one mentions JDK 18. Be honest if asked: the thread was mixed. The main criticisms from Java developers were that building JSON is verbose, questions about the API shape, and no comments for config files. Those are NOT solved yet, and the OpenJDK team is asking for feedback on exactly that. Transition: "So why is Java the odd one out?" then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poll from the talk: almost the whole room uses Jackson. Point: every other mainstream platform ships a JSON parser in its standard library. In Java, even a tiny one-off tool needs Maven/Gradle plus Jackson. That is friction for beginners, scripts, tests and prototypes.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translation: a JEP is like a public RFC for the Java platform. Features mature in stages. Incubator = experiment, you must opt in with a flag; Preview = nearly done; Final = part of standard Java, backward-compatible forever. JEP 540 is at the very first stage, which is exactly when feedback from real users like us can shape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JEP's own non-goal: "It is not a goal to create an API that supplants established external JSON libraries." It's deliberately narrow, compared to the 2014 attempt (JEP 198) that tried to do everything and never shipped. Think of it as the batteries-included option, like the built-in HttpClient.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concrete: every dependency is a supply-chain and security-patching duty (think of the patch rushes we've had). Small internal tools get cheaper. The JDK already speaks JSON for diagnostics (jcmd thread dumps, jfr print --json), so support engineers can build analysis tools quickly. Last point is from the talk itself: if it's simple for humans, it's simple for LLMs that generate quick Java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API fits on one slide. JsonValue is a sealed interface with exactly the six JSON types from the spec. Json.parse goes text to tree; toString / toDisplayString go back (compact vs pretty-printed). get/tryGet navigate; asX converts but never coerces: asString on a number throws instead of guessing. tryValue() returns an empty Optional for JSON null.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length is similar; the win is elsewhere. No dependency, runs as a single-file program with `java --add-modules jdk.incubator.json App.java`. And strictness: Jackson's asInt() quietly returns 0 if the value isn't a number; JEP 540's asInt() throws JsonValueException telling you exactly where. Missing charset: Jackson gives NullPointerException, JEP 540 gives a clear error with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bug: building JSON with string templates breaks the moment a value contains a quote or a newline. JsonObject.of builds a structure, toString() serialises it correctly. Note from the talk: the generation side is less mature than parsing (nested objects need a Map per level); that's exactly the kind of feedback the OpenJDK team is asking for. Future idea mentioned by Alan Bateman: JSON body handlers directly in HttpClient.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JEP's own motivating example (US National Weather Service forecast). The point isn't the weather: it's that a quick question over a JSON API no longer requires a project. Combines with recent "simplicity" features: single-file source launcher, var, instance main methods, IO.println.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Viktor Klang's argument against Postel's law: if the meaning of a JSON document depends on which parser reads it (comments? duplicate keys: first or last wins?), you have a bug waiting to happen, sometimes a security bug. JEP 540 picks the strict spec. Because JsonValue is sealed, you can switch over it exhaustively, which is great for handling legacy formats like ids that changed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with the business: this is not something we can put in production on Java 21 or 25. It's not backported; it's a new module in JDK 28, opt-in with --add-modules jdk.incubator.json. Whether it is final by the next LTS (JDK 29, Sept 2027) depends on feedback and is not guaranteed. Jackson stays our production choice. The value now: low-cost experimentation in non-production code and influence over the final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Viktor Klang said it clearly: outgrowing this API and moving to a richer library is a feature, not a bug. It's a starting point, not "everything for everybody". Our frameworks will keep using Jackson. The sweet spot is everything around the product: tooling, tests, ops scripts, quick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terminal. Have the JDK 28 early-access build installed and the demo folder open. Fallback if anything fails: the code is on the previous slides, and the expected output is in the demo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Prerequisite: JDK 28 early-access build from jdk.java.net (or GA if released by then). All demo files are in the demo folder. Step 1: show config.json, run, then change port to "abc" and show the JsonValueException with the path. Also try removing the port: default 8080. Step 2 in JShell: import jdk.incubator.json.*; var v = Json.parse("{\"a\":[1,2,3]}"); v.get("a").asList(); Json.toDisplayString(v, " "); Step 3 is the wow moment for ops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our Java 21/25 production apps can already PRODUCE this JSON with jcmd. The tool that READS it can run on a JDK 28 on a dev laptop, so it touches nothing in production. That's a realistic, risk-free first use case for us. Alan Bateman extended the same idea to show locks held per thread; use tryValue() for JSON null entries.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ask. Keep production on Jackson. Fill the brackets before presenting: how many people and how much time you want. The OpenJDK team explicitly asked for real-use feedback: what worked, what didn't, what was confusing. A company giving early feedback influences the API we'll live with for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TL;DR from the talk: "a JSON API when you don't have something else". Repeat the ask. Point people to the JEP, which the speakers called very well written, and the early-access builds at jdk.java.net.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27"/>
            <a:ext cx="10566400" cy="395737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27"/>
            <a:ext cx="10566400" cy="395737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869480"/>
            <a:ext cx="10883392" cy="309827"/>
          </a:xfrm>
          <a:prstGeom prst="rect">
            <a:avLst/>
          </a:prstGeom>
          <a:noFill/>
          <a:ln/>
        </p:spPr>
        <p:txBody>
          <a:bodyPr wrap="square" lIns="0" tIns="0" rIns="0" bIns="0" rtlCol="0" anchor="t">
            <a:normAutofit/>
          </a:bodyPr>
          <a:lstStyle/>
          <a:p>
            <a:pPr algn="l" indent="0" marL="0">
              <a:lnSpc>
                <a:spcPts val="2240"/>
              </a:lnSpc>
              <a:buNone/>
            </a:pPr>
            <a:r>
              <a:rPr lang="en-US" sz="1600" spc="100" kern="0" dirty="0">
                <a:solidFill>
                  <a:srgbClr val="E07A2F"/>
                </a:solidFill>
                <a:latin typeface="JetBrains Mono" pitchFamily="49" charset="0"/>
                <a:ea typeface="JetBrains Mono" pitchFamily="49" charset="-122"/>
                <a:cs typeface="JetBrains Mono" pitchFamily="49" charset="-120"/>
              </a:rPr>
              <a:t>JEP 540 · JDK 28 · INCUBATOR</a:t>
            </a:r>
            <a:endParaRPr lang="en-US" sz="1600" dirty="0"/>
          </a:p>
        </p:txBody>
      </p:sp>
      <p:sp>
        <p:nvSpPr>
          <p:cNvPr id="3" name="Text 1"/>
          <p:cNvSpPr/>
          <p:nvPr>
            <p:ph type="title"/>
          </p:nvPr>
        </p:nvSpPr>
        <p:spPr>
          <a:xfrm>
            <a:off x="812800" y="2407907"/>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6F2"/>
                </a:solidFill>
                <a:latin typeface="IBM Plex Sans" pitchFamily="34" charset="0"/>
                <a:ea typeface="IBM Plex Sans" pitchFamily="34" charset="-122"/>
                <a:cs typeface="IBM Plex Sans" pitchFamily="34" charset="-120"/>
              </a:rPr>
              <a:t>Everyday JSON,</a:t>
            </a:r>
            <a:endParaRPr lang="en-US" sz="6000" dirty="0"/>
          </a:p>
          <a:p>
            <a:pPr algn="l" indent="0" marL="0">
              <a:lnSpc>
                <a:spcPts val="6300"/>
              </a:lnSpc>
              <a:buNone/>
            </a:pPr>
            <a:r>
              <a:rPr lang="en-US" sz="6000" b="1" i="0" dirty="0">
                <a:solidFill>
                  <a:srgbClr val="F7F6F2"/>
                </a:solidFill>
                <a:latin typeface="IBM Plex Sans" pitchFamily="34" charset="0"/>
                <a:ea typeface="IBM Plex Sans" pitchFamily="34" charset="-122"/>
                <a:cs typeface="IBM Plex Sans" pitchFamily="34" charset="-120"/>
              </a:rPr>
              <a:t>built into Java</a:t>
            </a:r>
            <a:endParaRPr lang="en-US" sz="6000" dirty="0"/>
          </a:p>
        </p:txBody>
      </p:sp>
      <p:sp>
        <p:nvSpPr>
          <p:cNvPr id="4" name="Text 2"/>
          <p:cNvSpPr/>
          <p:nvPr/>
        </p:nvSpPr>
        <p:spPr>
          <a:xfrm>
            <a:off x="812800" y="4262107"/>
            <a:ext cx="8502650" cy="751814"/>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C8D9"/>
                </a:solidFill>
                <a:latin typeface="IBM Plex Sans" pitchFamily="34" charset="0"/>
                <a:ea typeface="IBM Plex Sans" pitchFamily="34" charset="-122"/>
                <a:cs typeface="IBM Plex Sans" pitchFamily="34" charset="-120"/>
              </a:rPr>
              <a:t>Reading and writing JSON with nothing but the JDK — what it is, what it changes for us, and a live demo.</a:t>
            </a:r>
            <a:endParaRPr lang="en-US" sz="2200" dirty="0"/>
          </a:p>
        </p:txBody>
      </p:sp>
      <p:sp>
        <p:nvSpPr>
          <p:cNvPr id="5"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IBM Plex Sans" pitchFamily="34" charset="0"/>
                <a:ea typeface="IBM Plex Sans" pitchFamily="34" charset="-122"/>
                <a:cs typeface="IBM Plex Sans" pitchFamily="34" charset="-120"/>
              </a:rPr>
              <a:t>Based on the Devoxx talk “Everyday JSON” by Viktor Klang &amp; Alan Bateman (Oracle Java Platform Group)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B"/>
                </a:solidFill>
                <a:latin typeface="JetBrains Mono" pitchFamily="49" charset="0"/>
                <a:ea typeface="JetBrains Mono" pitchFamily="49" charset="-122"/>
                <a:cs typeface="JetBrains Mono" pitchFamily="49" charset="-120"/>
              </a:rPr>
              <a:t>WHAT JAVA DEVELOPERS SAY</a:t>
            </a:r>
            <a:endParaRPr lang="en-US" sz="1200" dirty="0"/>
          </a:p>
        </p:txBody>
      </p:sp>
      <p:sp>
        <p:nvSpPr>
          <p:cNvPr id="3" name="Text 1"/>
          <p:cNvSpPr/>
          <p:nvPr>
            <p:ph type="title"/>
          </p:nvPr>
        </p:nvSpPr>
        <p:spPr>
          <a:xfrm>
            <a:off x="812800" y="12801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Java developers have been asking for this</a:t>
            </a:r>
            <a:endParaRPr lang="en-US" sz="3600" dirty="0"/>
          </a:p>
        </p:txBody>
      </p:sp>
      <p:sp>
        <p:nvSpPr>
          <p:cNvPr id="4" name="Shape 2"/>
          <p:cNvSpPr/>
          <p:nvPr/>
        </p:nvSpPr>
        <p:spPr>
          <a:xfrm>
            <a:off x="815975" y="2040203"/>
            <a:ext cx="3380317" cy="2745052"/>
          </a:xfrm>
          <a:prstGeom prst="roundRect">
            <a:avLst>
              <a:gd name="adj" fmla="val 3586"/>
            </a:avLst>
          </a:prstGeom>
          <a:solidFill>
            <a:srgbClr val="FFFFFF"/>
          </a:solidFill>
          <a:ln w="6350">
            <a:solidFill>
              <a:srgbClr val="DDD9CE"/>
            </a:solidFill>
            <a:prstDash val="solid"/>
          </a:ln>
        </p:spPr>
      </p:sp>
      <p:sp>
        <p:nvSpPr>
          <p:cNvPr id="5" name="Text 3"/>
          <p:cNvSpPr/>
          <p:nvPr/>
        </p:nvSpPr>
        <p:spPr>
          <a:xfrm>
            <a:off x="1045633" y="2269861"/>
            <a:ext cx="3008630" cy="54345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5FD0"/>
                </a:solidFill>
                <a:latin typeface="IBM Plex Sans" pitchFamily="34" charset="0"/>
                <a:ea typeface="IBM Plex Sans" pitchFamily="34" charset="-122"/>
                <a:cs typeface="IBM Plex Sans" pitchFamily="34" charset="-120"/>
              </a:rPr>
              <a:t>“Too many dependencies for a simple job”</a:t>
            </a:r>
            <a:endParaRPr lang="en-US" sz="1700" dirty="0"/>
          </a:p>
        </p:txBody>
      </p:sp>
      <p:sp>
        <p:nvSpPr>
          <p:cNvPr id="6" name="Text 4"/>
          <p:cNvSpPr/>
          <p:nvPr/>
        </p:nvSpPr>
        <p:spPr>
          <a:xfrm>
            <a:off x="1045633" y="2914915"/>
            <a:ext cx="300863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I maintain my own JSON helper and pull in Gson just to parse.</a:t>
            </a:r>
            <a:endParaRPr lang="en-US" sz="1300" dirty="0"/>
          </a:p>
        </p:txBody>
      </p:sp>
      <p:sp>
        <p:nvSpPr>
          <p:cNvPr id="7" name="Text 5"/>
          <p:cNvSpPr/>
          <p:nvPr/>
        </p:nvSpPr>
        <p:spPr>
          <a:xfrm>
            <a:off x="1045633" y="3504142"/>
            <a:ext cx="300863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basic JVM web service needs an HTTP library </a:t>
            </a:r>
            <a:r>
              <a:rPr lang="en-US" sz="1300" i="1" dirty="0">
                <a:solidFill>
                  <a:srgbClr val="4A5568"/>
                </a:solidFill>
                <a:latin typeface="IBM Plex Sans" pitchFamily="34" charset="0"/>
                <a:ea typeface="IBM Plex Sans" pitchFamily="34" charset="-122"/>
                <a:cs typeface="IBM Plex Sans" pitchFamily="34" charset="-120"/>
              </a:rPr>
              <a:t>and</a:t>
            </a:r>
            <a:r>
              <a:rPr lang="en-US" sz="1300" dirty="0">
                <a:solidFill>
                  <a:srgbClr val="4A5568"/>
                </a:solidFill>
                <a:latin typeface="IBM Plex Sans" pitchFamily="34" charset="0"/>
                <a:ea typeface="IBM Plex Sans" pitchFamily="34" charset="-122"/>
                <a:cs typeface="IBM Plex Sans" pitchFamily="34" charset="-120"/>
              </a:rPr>
              <a:t> a JSON library.</a:t>
            </a:r>
            <a:endParaRPr lang="en-US" sz="1300" dirty="0"/>
          </a:p>
        </p:txBody>
      </p:sp>
      <p:sp>
        <p:nvSpPr>
          <p:cNvPr id="8" name="Text 6"/>
          <p:cNvSpPr/>
          <p:nvPr/>
        </p:nvSpPr>
        <p:spPr>
          <a:xfrm>
            <a:off x="1045633" y="4093369"/>
            <a:ext cx="300863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small Java JSON library I rely on is no longer maintained.</a:t>
            </a:r>
            <a:endParaRPr lang="en-US" sz="1300" dirty="0"/>
          </a:p>
        </p:txBody>
      </p:sp>
      <p:sp>
        <p:nvSpPr>
          <p:cNvPr id="9" name="Shape 7"/>
          <p:cNvSpPr/>
          <p:nvPr/>
        </p:nvSpPr>
        <p:spPr>
          <a:xfrm>
            <a:off x="4405842" y="2040203"/>
            <a:ext cx="3380317" cy="2745052"/>
          </a:xfrm>
          <a:prstGeom prst="roundRect">
            <a:avLst>
              <a:gd name="adj" fmla="val 3586"/>
            </a:avLst>
          </a:prstGeom>
          <a:solidFill>
            <a:srgbClr val="FFFFFF"/>
          </a:solidFill>
          <a:ln w="6350">
            <a:solidFill>
              <a:srgbClr val="DDD9CE"/>
            </a:solidFill>
            <a:prstDash val="solid"/>
          </a:ln>
        </p:spPr>
      </p:sp>
      <p:sp>
        <p:nvSpPr>
          <p:cNvPr id="10" name="Text 8"/>
          <p:cNvSpPr/>
          <p:nvPr/>
        </p:nvSpPr>
        <p:spPr>
          <a:xfrm>
            <a:off x="4635500" y="2269861"/>
            <a:ext cx="3008630" cy="54345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5FD0"/>
                </a:solidFill>
                <a:latin typeface="IBM Plex Sans" pitchFamily="34" charset="0"/>
                <a:ea typeface="IBM Plex Sans" pitchFamily="34" charset="-122"/>
                <a:cs typeface="IBM Plex Sans" pitchFamily="34" charset="-120"/>
              </a:rPr>
              <a:t>“It should simply be standard”</a:t>
            </a:r>
            <a:endParaRPr lang="en-US" sz="1700" dirty="0"/>
          </a:p>
        </p:txBody>
      </p:sp>
      <p:sp>
        <p:nvSpPr>
          <p:cNvPr id="11" name="Text 9"/>
          <p:cNvSpPr/>
          <p:nvPr/>
        </p:nvSpPr>
        <p:spPr>
          <a:xfrm>
            <a:off x="4635500" y="2914915"/>
            <a:ext cx="3008630"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I've used an external JSON standard and its implementations for years. Why isn't it in the JDK?</a:t>
            </a:r>
            <a:endParaRPr lang="en-US" sz="1300" dirty="0"/>
          </a:p>
        </p:txBody>
      </p:sp>
      <p:sp>
        <p:nvSpPr>
          <p:cNvPr id="12" name="Text 10"/>
          <p:cNvSpPr/>
          <p:nvPr/>
        </p:nvSpPr>
        <p:spPr>
          <a:xfrm>
            <a:off x="4635500" y="3735256"/>
            <a:ext cx="3008630"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I want a common, well-maintained JSON API without the complexity of JSON-B.</a:t>
            </a:r>
            <a:endParaRPr lang="en-US" sz="1300" dirty="0"/>
          </a:p>
        </p:txBody>
      </p:sp>
      <p:sp>
        <p:nvSpPr>
          <p:cNvPr id="13" name="Shape 11"/>
          <p:cNvSpPr/>
          <p:nvPr/>
        </p:nvSpPr>
        <p:spPr>
          <a:xfrm>
            <a:off x="7995709" y="2040203"/>
            <a:ext cx="3380317" cy="2745052"/>
          </a:xfrm>
          <a:prstGeom prst="roundRect">
            <a:avLst>
              <a:gd name="adj" fmla="val 3586"/>
            </a:avLst>
          </a:prstGeom>
          <a:solidFill>
            <a:srgbClr val="FFFFFF"/>
          </a:solidFill>
          <a:ln w="6350">
            <a:solidFill>
              <a:srgbClr val="DDD9CE"/>
            </a:solidFill>
            <a:prstDash val="solid"/>
          </a:ln>
        </p:spPr>
      </p:sp>
      <p:sp>
        <p:nvSpPr>
          <p:cNvPr id="14" name="Text 12"/>
          <p:cNvSpPr/>
          <p:nvPr/>
        </p:nvSpPr>
        <p:spPr>
          <a:xfrm>
            <a:off x="8225367" y="2269861"/>
            <a:ext cx="3008630" cy="54345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2F5FD0"/>
                </a:solidFill>
                <a:latin typeface="IBM Plex Sans" pitchFamily="34" charset="0"/>
                <a:ea typeface="IBM Plex Sans" pitchFamily="34" charset="-122"/>
                <a:cs typeface="IBM Plex Sans" pitchFamily="34" charset="-120"/>
              </a:rPr>
              <a:t>“Let me explore any JSON, safely”</a:t>
            </a:r>
            <a:endParaRPr lang="en-US" sz="1700" dirty="0"/>
          </a:p>
        </p:txBody>
      </p:sp>
      <p:sp>
        <p:nvSpPr>
          <p:cNvPr id="15" name="Text 13"/>
          <p:cNvSpPr/>
          <p:nvPr/>
        </p:nvSpPr>
        <p:spPr>
          <a:xfrm>
            <a:off x="8225367" y="2914915"/>
            <a:ext cx="300863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After 20 years of Jackson, I want that easy tree navigation built in.</a:t>
            </a:r>
            <a:endParaRPr lang="en-US" sz="1300" dirty="0"/>
          </a:p>
        </p:txBody>
      </p:sp>
      <p:sp>
        <p:nvSpPr>
          <p:cNvPr id="16" name="Text 14"/>
          <p:cNvSpPr/>
          <p:nvPr/>
        </p:nvSpPr>
        <p:spPr>
          <a:xfrm>
            <a:off x="8225367" y="3504142"/>
            <a:ext cx="3008630"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Will numbers stay exact, and what about duplicate keys? The JEP keeps exact values and rejects duplicates.</a:t>
            </a:r>
            <a:endParaRPr lang="en-US" sz="13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Paraphrased from Java developers in the Hacker News discussion of JEP 540 (July 2026): 102 points, 82 comments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B"/>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800" y="1330920"/>
            <a:ext cx="9810750" cy="103121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JSON is everywhere. Java is the odd one out.</a:t>
            </a:r>
            <a:endParaRPr lang="en-US" sz="3600" dirty="0"/>
          </a:p>
        </p:txBody>
      </p:sp>
      <p:sp>
        <p:nvSpPr>
          <p:cNvPr id="4" name="Shape 2"/>
          <p:cNvSpPr/>
          <p:nvPr/>
        </p:nvSpPr>
        <p:spPr>
          <a:xfrm>
            <a:off x="815975" y="2644710"/>
            <a:ext cx="1984970" cy="1261864"/>
          </a:xfrm>
          <a:prstGeom prst="roundRect">
            <a:avLst>
              <a:gd name="adj" fmla="val 7800"/>
            </a:avLst>
          </a:prstGeom>
          <a:solidFill>
            <a:srgbClr val="FFFFFF"/>
          </a:solidFill>
          <a:ln w="6350">
            <a:solidFill>
              <a:srgbClr val="DDD9CE"/>
            </a:solidFill>
            <a:prstDash val="solid"/>
          </a:ln>
        </p:spPr>
      </p:sp>
      <p:sp>
        <p:nvSpPr>
          <p:cNvPr id="5" name="Text 3"/>
          <p:cNvSpPr/>
          <p:nvPr/>
        </p:nvSpPr>
        <p:spPr>
          <a:xfrm>
            <a:off x="1020233" y="2848967"/>
            <a:ext cx="162725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Python</a:t>
            </a:r>
            <a:endParaRPr lang="en-US" sz="1800" dirty="0"/>
          </a:p>
        </p:txBody>
      </p:sp>
      <p:sp>
        <p:nvSpPr>
          <p:cNvPr id="6" name="Text 4"/>
          <p:cNvSpPr/>
          <p:nvPr/>
        </p:nvSpPr>
        <p:spPr>
          <a:xfrm>
            <a:off x="1020233" y="3199474"/>
            <a:ext cx="1627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FD0"/>
                </a:solidFill>
                <a:latin typeface="JetBrains Mono" pitchFamily="49" charset="0"/>
                <a:ea typeface="JetBrains Mono" pitchFamily="49" charset="-122"/>
                <a:cs typeface="JetBrains Mono" pitchFamily="49" charset="-120"/>
              </a:rPr>
              <a:t>import json</a:t>
            </a:r>
            <a:endParaRPr lang="en-US" sz="1200" dirty="0"/>
          </a:p>
        </p:txBody>
      </p:sp>
      <p:sp>
        <p:nvSpPr>
          <p:cNvPr id="7" name="Text 5"/>
          <p:cNvSpPr/>
          <p:nvPr/>
        </p:nvSpPr>
        <p:spPr>
          <a:xfrm>
            <a:off x="1020233" y="3488995"/>
            <a:ext cx="1627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Built in</a:t>
            </a:r>
            <a:endParaRPr lang="en-US" sz="1200" dirty="0"/>
          </a:p>
        </p:txBody>
      </p:sp>
      <p:sp>
        <p:nvSpPr>
          <p:cNvPr id="8" name="Shape 6"/>
          <p:cNvSpPr/>
          <p:nvPr/>
        </p:nvSpPr>
        <p:spPr>
          <a:xfrm>
            <a:off x="2959695" y="2644710"/>
            <a:ext cx="1985037" cy="1261864"/>
          </a:xfrm>
          <a:prstGeom prst="roundRect">
            <a:avLst>
              <a:gd name="adj" fmla="val 7800"/>
            </a:avLst>
          </a:prstGeom>
          <a:solidFill>
            <a:srgbClr val="FFFFFF"/>
          </a:solidFill>
          <a:ln w="6350">
            <a:solidFill>
              <a:srgbClr val="DDD9CE"/>
            </a:solidFill>
            <a:prstDash val="solid"/>
          </a:ln>
        </p:spPr>
      </p:sp>
      <p:sp>
        <p:nvSpPr>
          <p:cNvPr id="9" name="Text 7"/>
          <p:cNvSpPr/>
          <p:nvPr/>
        </p:nvSpPr>
        <p:spPr>
          <a:xfrm>
            <a:off x="3163954" y="2848967"/>
            <a:ext cx="162732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Go</a:t>
            </a:r>
            <a:endParaRPr lang="en-US" sz="1800" dirty="0"/>
          </a:p>
        </p:txBody>
      </p:sp>
      <p:sp>
        <p:nvSpPr>
          <p:cNvPr id="10" name="Text 8"/>
          <p:cNvSpPr/>
          <p:nvPr/>
        </p:nvSpPr>
        <p:spPr>
          <a:xfrm>
            <a:off x="3163954" y="3199474"/>
            <a:ext cx="1627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FD0"/>
                </a:solidFill>
                <a:latin typeface="JetBrains Mono" pitchFamily="49" charset="0"/>
                <a:ea typeface="JetBrains Mono" pitchFamily="49" charset="-122"/>
                <a:cs typeface="JetBrains Mono" pitchFamily="49" charset="-120"/>
              </a:rPr>
              <a:t>encoding/json</a:t>
            </a:r>
            <a:endParaRPr lang="en-US" sz="1200" dirty="0"/>
          </a:p>
        </p:txBody>
      </p:sp>
      <p:sp>
        <p:nvSpPr>
          <p:cNvPr id="11" name="Text 9"/>
          <p:cNvSpPr/>
          <p:nvPr/>
        </p:nvSpPr>
        <p:spPr>
          <a:xfrm>
            <a:off x="3163954" y="3488995"/>
            <a:ext cx="1627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Built in</a:t>
            </a:r>
            <a:endParaRPr lang="en-US" sz="1200" dirty="0"/>
          </a:p>
        </p:txBody>
      </p:sp>
      <p:sp>
        <p:nvSpPr>
          <p:cNvPr id="12" name="Shape 10"/>
          <p:cNvSpPr/>
          <p:nvPr/>
        </p:nvSpPr>
        <p:spPr>
          <a:xfrm>
            <a:off x="5103482" y="2644710"/>
            <a:ext cx="1984970" cy="1261864"/>
          </a:xfrm>
          <a:prstGeom prst="roundRect">
            <a:avLst>
              <a:gd name="adj" fmla="val 7800"/>
            </a:avLst>
          </a:prstGeom>
          <a:solidFill>
            <a:srgbClr val="FFFFFF"/>
          </a:solidFill>
          <a:ln w="6350">
            <a:solidFill>
              <a:srgbClr val="DDD9CE"/>
            </a:solidFill>
            <a:prstDash val="solid"/>
          </a:ln>
        </p:spPr>
      </p:sp>
      <p:sp>
        <p:nvSpPr>
          <p:cNvPr id="13" name="Text 11"/>
          <p:cNvSpPr/>
          <p:nvPr/>
        </p:nvSpPr>
        <p:spPr>
          <a:xfrm>
            <a:off x="5307740" y="2848967"/>
            <a:ext cx="162725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JavaScript</a:t>
            </a:r>
            <a:endParaRPr lang="en-US" sz="1800" dirty="0"/>
          </a:p>
        </p:txBody>
      </p:sp>
      <p:sp>
        <p:nvSpPr>
          <p:cNvPr id="14" name="Text 12"/>
          <p:cNvSpPr/>
          <p:nvPr/>
        </p:nvSpPr>
        <p:spPr>
          <a:xfrm>
            <a:off x="5307740" y="3199474"/>
            <a:ext cx="1627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FD0"/>
                </a:solidFill>
                <a:latin typeface="JetBrains Mono" pitchFamily="49" charset="0"/>
                <a:ea typeface="JetBrains Mono" pitchFamily="49" charset="-122"/>
                <a:cs typeface="JetBrains Mono" pitchFamily="49" charset="-120"/>
              </a:rPr>
              <a:t>JSON.parse</a:t>
            </a:r>
            <a:endParaRPr lang="en-US" sz="1200" dirty="0"/>
          </a:p>
        </p:txBody>
      </p:sp>
      <p:sp>
        <p:nvSpPr>
          <p:cNvPr id="15" name="Text 13"/>
          <p:cNvSpPr/>
          <p:nvPr/>
        </p:nvSpPr>
        <p:spPr>
          <a:xfrm>
            <a:off x="5307740" y="3488995"/>
            <a:ext cx="1627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Built in</a:t>
            </a:r>
            <a:endParaRPr lang="en-US" sz="1200" dirty="0"/>
          </a:p>
        </p:txBody>
      </p:sp>
      <p:sp>
        <p:nvSpPr>
          <p:cNvPr id="16" name="Shape 14"/>
          <p:cNvSpPr/>
          <p:nvPr/>
        </p:nvSpPr>
        <p:spPr>
          <a:xfrm>
            <a:off x="7247203" y="2644710"/>
            <a:ext cx="1985037" cy="1261864"/>
          </a:xfrm>
          <a:prstGeom prst="roundRect">
            <a:avLst>
              <a:gd name="adj" fmla="val 7800"/>
            </a:avLst>
          </a:prstGeom>
          <a:solidFill>
            <a:srgbClr val="FFFFFF"/>
          </a:solidFill>
          <a:ln w="6350">
            <a:solidFill>
              <a:srgbClr val="DDD9CE"/>
            </a:solidFill>
            <a:prstDash val="solid"/>
          </a:ln>
        </p:spPr>
      </p:sp>
      <p:sp>
        <p:nvSpPr>
          <p:cNvPr id="17" name="Text 15"/>
          <p:cNvSpPr/>
          <p:nvPr/>
        </p:nvSpPr>
        <p:spPr>
          <a:xfrm>
            <a:off x="7451461" y="2848967"/>
            <a:ext cx="162732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a:t>
            </a:r>
            <a:endParaRPr lang="en-US" sz="1800" dirty="0"/>
          </a:p>
        </p:txBody>
      </p:sp>
      <p:sp>
        <p:nvSpPr>
          <p:cNvPr id="18" name="Text 16"/>
          <p:cNvSpPr/>
          <p:nvPr/>
        </p:nvSpPr>
        <p:spPr>
          <a:xfrm>
            <a:off x="7451461" y="3199474"/>
            <a:ext cx="1627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5FD0"/>
                </a:solidFill>
                <a:latin typeface="JetBrains Mono" pitchFamily="49" charset="0"/>
                <a:ea typeface="JetBrains Mono" pitchFamily="49" charset="-122"/>
                <a:cs typeface="JetBrains Mono" pitchFamily="49" charset="-120"/>
              </a:rPr>
              <a:t>System.Text.Json</a:t>
            </a:r>
            <a:endParaRPr lang="en-US" sz="1200" dirty="0"/>
          </a:p>
        </p:txBody>
      </p:sp>
      <p:sp>
        <p:nvSpPr>
          <p:cNvPr id="19" name="Text 17"/>
          <p:cNvSpPr/>
          <p:nvPr/>
        </p:nvSpPr>
        <p:spPr>
          <a:xfrm>
            <a:off x="7451461" y="3488995"/>
            <a:ext cx="16273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Built in</a:t>
            </a:r>
            <a:endParaRPr lang="en-US" sz="1200" dirty="0"/>
          </a:p>
        </p:txBody>
      </p:sp>
      <p:sp>
        <p:nvSpPr>
          <p:cNvPr id="20" name="Shape 18"/>
          <p:cNvSpPr/>
          <p:nvPr/>
        </p:nvSpPr>
        <p:spPr>
          <a:xfrm>
            <a:off x="9387814" y="2641535"/>
            <a:ext cx="1991320" cy="1268214"/>
          </a:xfrm>
          <a:prstGeom prst="roundRect">
            <a:avLst>
              <a:gd name="adj" fmla="val 8011"/>
            </a:avLst>
          </a:prstGeom>
          <a:solidFill>
            <a:srgbClr val="14213D"/>
          </a:solidFill>
          <a:ln/>
        </p:spPr>
      </p:sp>
      <p:sp>
        <p:nvSpPr>
          <p:cNvPr id="21" name="Text 19"/>
          <p:cNvSpPr/>
          <p:nvPr/>
        </p:nvSpPr>
        <p:spPr>
          <a:xfrm>
            <a:off x="9591014" y="2844735"/>
            <a:ext cx="163572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6F2"/>
                </a:solidFill>
                <a:latin typeface="IBM Plex Sans" pitchFamily="34" charset="0"/>
                <a:ea typeface="IBM Plex Sans" pitchFamily="34" charset="-122"/>
                <a:cs typeface="IBM Plex Sans" pitchFamily="34" charset="-120"/>
              </a:rPr>
              <a:t>Java ≤ 27</a:t>
            </a:r>
            <a:endParaRPr lang="en-US" sz="1800" dirty="0"/>
          </a:p>
        </p:txBody>
      </p:sp>
      <p:sp>
        <p:nvSpPr>
          <p:cNvPr id="22" name="Text 20"/>
          <p:cNvSpPr/>
          <p:nvPr/>
        </p:nvSpPr>
        <p:spPr>
          <a:xfrm>
            <a:off x="9591014" y="3195241"/>
            <a:ext cx="16357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7A2F"/>
                </a:solidFill>
                <a:latin typeface="JetBrains Mono" pitchFamily="49" charset="0"/>
                <a:ea typeface="JetBrains Mono" pitchFamily="49" charset="-122"/>
                <a:cs typeface="JetBrains Mono" pitchFamily="49" charset="-120"/>
              </a:rPr>
              <a:t>add a library</a:t>
            </a:r>
            <a:endParaRPr lang="en-US" sz="1200" dirty="0"/>
          </a:p>
        </p:txBody>
      </p:sp>
      <p:sp>
        <p:nvSpPr>
          <p:cNvPr id="23" name="Text 21"/>
          <p:cNvSpPr/>
          <p:nvPr/>
        </p:nvSpPr>
        <p:spPr>
          <a:xfrm>
            <a:off x="9591014" y="3484761"/>
            <a:ext cx="16357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9"/>
                </a:solidFill>
                <a:latin typeface="IBM Plex Sans" pitchFamily="34" charset="0"/>
                <a:ea typeface="IBM Plex Sans" pitchFamily="34" charset="-122"/>
                <a:cs typeface="IBM Plex Sans" pitchFamily="34" charset="-120"/>
              </a:rPr>
              <a:t>Jackson, Gson…</a:t>
            </a:r>
            <a:endParaRPr lang="en-US" sz="1200" dirty="0"/>
          </a:p>
        </p:txBody>
      </p:sp>
      <p:sp>
        <p:nvSpPr>
          <p:cNvPr id="24" name="Text 22"/>
          <p:cNvSpPr/>
          <p:nvPr/>
        </p:nvSpPr>
        <p:spPr>
          <a:xfrm>
            <a:off x="812800" y="4214549"/>
            <a:ext cx="981075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Today, even a 10-line script that reads a config file or calls a REST API needs a build tool and a third-party dependency.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B"/>
                </a:solidFill>
                <a:latin typeface="JetBrains Mono" pitchFamily="49" charset="0"/>
                <a:ea typeface="JetBrains Mono" pitchFamily="49" charset="-122"/>
                <a:cs typeface="JetBrains Mono" pitchFamily="49" charset="-120"/>
              </a:rPr>
              <a:t>RECAP · WHAT IS A JEP?</a:t>
            </a:r>
            <a:endParaRPr lang="en-US" sz="1200" dirty="0"/>
          </a:p>
        </p:txBody>
      </p:sp>
      <p:sp>
        <p:nvSpPr>
          <p:cNvPr id="3" name="Text 1"/>
          <p:cNvSpPr/>
          <p:nvPr>
            <p:ph type="title"/>
          </p:nvPr>
        </p:nvSpPr>
        <p:spPr>
          <a:xfrm>
            <a:off x="812800" y="13309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A JEP is how a feature gets into Java</a:t>
            </a:r>
            <a:endParaRPr lang="en-US" sz="3600" dirty="0"/>
          </a:p>
        </p:txBody>
      </p:sp>
      <p:sp>
        <p:nvSpPr>
          <p:cNvPr id="4" name="Text 2"/>
          <p:cNvSpPr/>
          <p:nvPr/>
        </p:nvSpPr>
        <p:spPr>
          <a:xfrm>
            <a:off x="812800" y="2138628"/>
            <a:ext cx="9810750" cy="594254"/>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JDK Enhancement Proposal</a:t>
            </a:r>
            <a:r>
              <a:rPr lang="en-US" sz="1600" dirty="0">
                <a:solidFill>
                  <a:srgbClr val="4A5568"/>
                </a:solidFill>
                <a:latin typeface="IBM Plex Sans" pitchFamily="34" charset="0"/>
                <a:ea typeface="IBM Plex Sans" pitchFamily="34" charset="-122"/>
                <a:cs typeface="IBM Plex Sans" pitchFamily="34" charset="-120"/>
              </a:rPr>
              <a:t> — a public design document from OpenJDK. Every major Java feature (records, virtual threads, pattern matching) started as one.</a:t>
            </a:r>
            <a:endParaRPr lang="en-US" sz="1600" dirty="0"/>
          </a:p>
        </p:txBody>
      </p:sp>
      <p:sp>
        <p:nvSpPr>
          <p:cNvPr id="5" name="Shape 3"/>
          <p:cNvSpPr/>
          <p:nvPr/>
        </p:nvSpPr>
        <p:spPr>
          <a:xfrm>
            <a:off x="822325" y="3021806"/>
            <a:ext cx="3014795" cy="1970484"/>
          </a:xfrm>
          <a:prstGeom prst="roundRect">
            <a:avLst>
              <a:gd name="adj" fmla="val 4673"/>
            </a:avLst>
          </a:prstGeom>
          <a:solidFill>
            <a:srgbClr val="FFFFFF"/>
          </a:solidFill>
          <a:ln w="19050">
            <a:solidFill>
              <a:srgbClr val="E07A2F"/>
            </a:solidFill>
            <a:prstDash val="solid"/>
          </a:ln>
        </p:spPr>
      </p:sp>
      <p:sp>
        <p:nvSpPr>
          <p:cNvPr id="6" name="Text 4"/>
          <p:cNvSpPr/>
          <p:nvPr/>
        </p:nvSpPr>
        <p:spPr>
          <a:xfrm>
            <a:off x="1058333" y="3257815"/>
            <a:ext cx="2619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31B"/>
                </a:solidFill>
                <a:latin typeface="JetBrains Mono" pitchFamily="49" charset="0"/>
                <a:ea typeface="JetBrains Mono" pitchFamily="49" charset="-122"/>
                <a:cs typeface="JetBrains Mono" pitchFamily="49" charset="-120"/>
              </a:rPr>
              <a:t>STAGE 1 · WE ARE HERE</a:t>
            </a:r>
            <a:endParaRPr lang="en-US" sz="1200" dirty="0"/>
          </a:p>
        </p:txBody>
      </p:sp>
      <p:sp>
        <p:nvSpPr>
          <p:cNvPr id="7" name="Text 5"/>
          <p:cNvSpPr/>
          <p:nvPr/>
        </p:nvSpPr>
        <p:spPr>
          <a:xfrm>
            <a:off x="1058333" y="3572735"/>
            <a:ext cx="2619061"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IBM Plex Sans" pitchFamily="34" charset="0"/>
                <a:ea typeface="IBM Plex Sans" pitchFamily="34" charset="-122"/>
                <a:cs typeface="IBM Plex Sans" pitchFamily="34" charset="-120"/>
              </a:rPr>
              <a:t>Incubator</a:t>
            </a:r>
            <a:endParaRPr lang="en-US" sz="2200" dirty="0"/>
          </a:p>
        </p:txBody>
      </p:sp>
      <p:sp>
        <p:nvSpPr>
          <p:cNvPr id="8" name="Text 6"/>
          <p:cNvSpPr/>
          <p:nvPr/>
        </p:nvSpPr>
        <p:spPr>
          <a:xfrm>
            <a:off x="1058333" y="4009563"/>
            <a:ext cx="2619061"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Experimental module. Opt-in flag. API may change or be dropped.</a:t>
            </a:r>
            <a:endParaRPr lang="en-US" sz="1400" dirty="0"/>
          </a:p>
        </p:txBody>
      </p:sp>
      <p:pic>
        <p:nvPicPr>
          <p:cNvPr id="9" name="Image 0" descr="arrow-right">    </p:cNvPr>
          <p:cNvPicPr>
            <a:picLocks noChangeAspect="1"/>
          </p:cNvPicPr>
          <p:nvPr/>
        </p:nvPicPr>
        <p:blipFill>
          <a:blip r:embed="rId1"/>
          <a:srcRect l="0" r="0" t="0" b="0"/>
          <a:stretch/>
        </p:blipFill>
        <p:spPr>
          <a:xfrm>
            <a:off x="3999045" y="3880048"/>
            <a:ext cx="457200" cy="254000"/>
          </a:xfrm>
          <a:prstGeom prst="rect">
            <a:avLst/>
          </a:prstGeom>
        </p:spPr>
      </p:pic>
      <p:sp>
        <p:nvSpPr>
          <p:cNvPr id="10" name="Shape 7"/>
          <p:cNvSpPr/>
          <p:nvPr/>
        </p:nvSpPr>
        <p:spPr>
          <a:xfrm>
            <a:off x="4611820" y="3015456"/>
            <a:ext cx="3002161" cy="1983184"/>
          </a:xfrm>
          <a:prstGeom prst="roundRect">
            <a:avLst>
              <a:gd name="adj" fmla="val 4963"/>
            </a:avLst>
          </a:prstGeom>
          <a:solidFill>
            <a:srgbClr val="FFFFFF"/>
          </a:solidFill>
          <a:ln w="6350">
            <a:solidFill>
              <a:srgbClr val="DDD9CE"/>
            </a:solidFill>
            <a:prstDash val="solid"/>
          </a:ln>
        </p:spPr>
      </p:sp>
      <p:sp>
        <p:nvSpPr>
          <p:cNvPr id="11" name="Text 8"/>
          <p:cNvSpPr/>
          <p:nvPr/>
        </p:nvSpPr>
        <p:spPr>
          <a:xfrm>
            <a:off x="4841478" y="3245115"/>
            <a:ext cx="26191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JetBrains Mono" pitchFamily="49" charset="0"/>
                <a:ea typeface="JetBrains Mono" pitchFamily="49" charset="-122"/>
                <a:cs typeface="JetBrains Mono" pitchFamily="49" charset="-120"/>
              </a:rPr>
              <a:t>STAGE 2</a:t>
            </a:r>
            <a:endParaRPr lang="en-US" sz="1200" dirty="0"/>
          </a:p>
        </p:txBody>
      </p:sp>
      <p:sp>
        <p:nvSpPr>
          <p:cNvPr id="12" name="Text 9"/>
          <p:cNvSpPr/>
          <p:nvPr/>
        </p:nvSpPr>
        <p:spPr>
          <a:xfrm>
            <a:off x="4841478" y="3560035"/>
            <a:ext cx="2619130"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4213D"/>
                </a:solidFill>
                <a:latin typeface="IBM Plex Sans" pitchFamily="34" charset="0"/>
                <a:ea typeface="IBM Plex Sans" pitchFamily="34" charset="-122"/>
                <a:cs typeface="IBM Plex Sans" pitchFamily="34" charset="-120"/>
              </a:rPr>
              <a:t>Preview</a:t>
            </a:r>
            <a:endParaRPr lang="en-US" sz="2200" dirty="0"/>
          </a:p>
        </p:txBody>
      </p:sp>
      <p:sp>
        <p:nvSpPr>
          <p:cNvPr id="13" name="Text 10"/>
          <p:cNvSpPr/>
          <p:nvPr/>
        </p:nvSpPr>
        <p:spPr>
          <a:xfrm>
            <a:off x="4841478" y="3996863"/>
            <a:ext cx="2619130"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Fully specified, still needs --enable-preview. Last call for feedback.</a:t>
            </a:r>
            <a:endParaRPr lang="en-US" sz="1400" dirty="0"/>
          </a:p>
        </p:txBody>
      </p:sp>
      <p:pic>
        <p:nvPicPr>
          <p:cNvPr id="14" name="Image 1" descr="arrow-right">    </p:cNvPr>
          <p:cNvPicPr>
            <a:picLocks noChangeAspect="1"/>
          </p:cNvPicPr>
          <p:nvPr/>
        </p:nvPicPr>
        <p:blipFill>
          <a:blip r:embed="rId2"/>
          <a:srcRect l="0" r="0" t="0" b="0"/>
          <a:stretch/>
        </p:blipFill>
        <p:spPr>
          <a:xfrm>
            <a:off x="7769556" y="3880048"/>
            <a:ext cx="457200" cy="254000"/>
          </a:xfrm>
          <a:prstGeom prst="rect">
            <a:avLst/>
          </a:prstGeom>
        </p:spPr>
      </p:pic>
      <p:sp>
        <p:nvSpPr>
          <p:cNvPr id="15" name="Shape 11"/>
          <p:cNvSpPr/>
          <p:nvPr/>
        </p:nvSpPr>
        <p:spPr>
          <a:xfrm>
            <a:off x="8379156" y="3012281"/>
            <a:ext cx="3000044" cy="1989534"/>
          </a:xfrm>
          <a:prstGeom prst="roundRect">
            <a:avLst>
              <a:gd name="adj" fmla="val 5107"/>
            </a:avLst>
          </a:prstGeom>
          <a:solidFill>
            <a:srgbClr val="14213D"/>
          </a:solidFill>
          <a:ln/>
        </p:spPr>
      </p:sp>
      <p:sp>
        <p:nvSpPr>
          <p:cNvPr id="16" name="Text 12"/>
          <p:cNvSpPr/>
          <p:nvPr/>
        </p:nvSpPr>
        <p:spPr>
          <a:xfrm>
            <a:off x="8607756" y="3240881"/>
            <a:ext cx="26191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7A2F"/>
                </a:solidFill>
                <a:latin typeface="JetBrains Mono" pitchFamily="49" charset="0"/>
                <a:ea typeface="JetBrains Mono" pitchFamily="49" charset="-122"/>
                <a:cs typeface="JetBrains Mono" pitchFamily="49" charset="-120"/>
              </a:rPr>
              <a:t>STAGE 3</a:t>
            </a:r>
            <a:endParaRPr lang="en-US" sz="1200" dirty="0"/>
          </a:p>
        </p:txBody>
      </p:sp>
      <p:sp>
        <p:nvSpPr>
          <p:cNvPr id="17" name="Text 13"/>
          <p:cNvSpPr/>
          <p:nvPr/>
        </p:nvSpPr>
        <p:spPr>
          <a:xfrm>
            <a:off x="8607756" y="3555802"/>
            <a:ext cx="2619130"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6F2"/>
                </a:solidFill>
                <a:latin typeface="IBM Plex Sans" pitchFamily="34" charset="0"/>
                <a:ea typeface="IBM Plex Sans" pitchFamily="34" charset="-122"/>
                <a:cs typeface="IBM Plex Sans" pitchFamily="34" charset="-120"/>
              </a:rPr>
              <a:t>Final</a:t>
            </a:r>
            <a:endParaRPr lang="en-US" sz="2200" dirty="0"/>
          </a:p>
        </p:txBody>
      </p:sp>
      <p:sp>
        <p:nvSpPr>
          <p:cNvPr id="18" name="Text 14"/>
          <p:cNvSpPr/>
          <p:nvPr/>
        </p:nvSpPr>
        <p:spPr>
          <a:xfrm>
            <a:off x="8607756" y="3992629"/>
            <a:ext cx="26191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8D9"/>
                </a:solidFill>
                <a:latin typeface="IBM Plex Sans" pitchFamily="34" charset="0"/>
                <a:ea typeface="IBM Plex Sans" pitchFamily="34" charset="-122"/>
                <a:cs typeface="IBM Plex Sans" pitchFamily="34" charset="-120"/>
              </a:rPr>
              <a:t>Standard Java. Stable forever. Safe for production.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BE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B"/>
                </a:solidFill>
                <a:latin typeface="JetBrains Mono" pitchFamily="49" charset="0"/>
                <a:ea typeface="JetBrains Mono" pitchFamily="49" charset="-122"/>
                <a:cs typeface="JetBrains Mono" pitchFamily="49" charset="-120"/>
              </a:rPr>
              <a:t>JEP 540 · SIMPLE JSON API</a:t>
            </a:r>
            <a:endParaRPr lang="en-US" sz="1200" dirty="0"/>
          </a:p>
        </p:txBody>
      </p:sp>
      <p:sp>
        <p:nvSpPr>
          <p:cNvPr id="3" name="Text 1"/>
          <p:cNvSpPr/>
          <p:nvPr>
            <p:ph type="title"/>
          </p:nvPr>
        </p:nvSpPr>
        <p:spPr>
          <a:xfrm>
            <a:off x="812800" y="13309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Simple things, done simply</a:t>
            </a:r>
            <a:endParaRPr lang="en-US" sz="3600" dirty="0"/>
          </a:p>
        </p:txBody>
      </p:sp>
      <p:sp>
        <p:nvSpPr>
          <p:cNvPr id="4" name="Shape 2"/>
          <p:cNvSpPr/>
          <p:nvPr/>
        </p:nvSpPr>
        <p:spPr>
          <a:xfrm>
            <a:off x="812800" y="2138629"/>
            <a:ext cx="5181600" cy="2419350"/>
          </a:xfrm>
          <a:prstGeom prst="roundRect">
            <a:avLst>
              <a:gd name="adj" fmla="val 4199"/>
            </a:avLst>
          </a:prstGeom>
          <a:solidFill>
            <a:srgbClr val="FFFFFF"/>
          </a:solidFill>
          <a:ln/>
        </p:spPr>
      </p:sp>
      <p:sp>
        <p:nvSpPr>
          <p:cNvPr id="5" name="Shape 3"/>
          <p:cNvSpPr/>
          <p:nvPr/>
        </p:nvSpPr>
        <p:spPr>
          <a:xfrm>
            <a:off x="812800" y="2138629"/>
            <a:ext cx="5181600" cy="2419350"/>
          </a:xfrm>
          <a:custGeom>
            <a:avLst/>
            <a:gdLst/>
            <a:ahLst/>
            <a:cxnLst/>
            <a:rect l="l" t="t" r="r" b="b"/>
            <a:pathLst>
              <a:path w="5181600" h="241935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2F5FD0"/>
          </a:solidFill>
          <a:ln/>
        </p:spPr>
      </p:sp>
      <p:sp>
        <p:nvSpPr>
          <p:cNvPr id="6" name="Text 4"/>
          <p:cNvSpPr/>
          <p:nvPr/>
        </p:nvSpPr>
        <p:spPr>
          <a:xfrm>
            <a:off x="1066800" y="2443429"/>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5FD0"/>
                </a:solidFill>
                <a:latin typeface="IBM Plex Sans" pitchFamily="34" charset="0"/>
                <a:ea typeface="IBM Plex Sans" pitchFamily="34" charset="-122"/>
                <a:cs typeface="IBM Plex Sans" pitchFamily="34" charset="-120"/>
              </a:rPr>
              <a:t>What it is</a:t>
            </a:r>
            <a:endParaRPr lang="en-US" sz="2000" dirty="0"/>
          </a:p>
        </p:txBody>
      </p:sp>
      <p:sp>
        <p:nvSpPr>
          <p:cNvPr id="7" name="Text 5"/>
          <p:cNvSpPr/>
          <p:nvPr/>
        </p:nvSpPr>
        <p:spPr>
          <a:xfrm>
            <a:off x="1137920" y="2875229"/>
            <a:ext cx="4735068" cy="14541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A JSON parser &amp; writer inside the JDK</a:t>
            </a:r>
            <a:endParaRPr lang="en-US" sz="1500" dirty="0"/>
          </a:p>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Module </a:t>
            </a:r>
            <a:r>
              <a:rPr lang="en-US" sz="1500" dirty="0">
                <a:solidFill>
                  <a:srgbClr val="2F5FD0"/>
                </a:solidFill>
                <a:latin typeface="IBM Plex Sans" pitchFamily="34" charset="0"/>
                <a:ea typeface="IBM Plex Sans" pitchFamily="34" charset="-122"/>
                <a:cs typeface="IBM Plex Sans" pitchFamily="34" charset="-120"/>
              </a:rPr>
              <a:t>jdk.incubator.json</a:t>
            </a:r>
            <a:endParaRPr lang="en-US" sz="1500" dirty="0"/>
          </a:p>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Strict RFC 8259 JSON</a:t>
            </a:r>
            <a:endParaRPr lang="en-US" sz="1500" dirty="0"/>
          </a:p>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Immutable, type-safe tree of values</a:t>
            </a:r>
            <a:endParaRPr lang="en-US" sz="1500" dirty="0"/>
          </a:p>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Integrated in JDK 28 (March 2027)</a:t>
            </a:r>
            <a:endParaRPr lang="en-US" sz="1500" dirty="0"/>
          </a:p>
        </p:txBody>
      </p:sp>
      <p:sp>
        <p:nvSpPr>
          <p:cNvPr id="8" name="Shape 6"/>
          <p:cNvSpPr/>
          <p:nvPr/>
        </p:nvSpPr>
        <p:spPr>
          <a:xfrm>
            <a:off x="6197600" y="2138629"/>
            <a:ext cx="5181600" cy="2419350"/>
          </a:xfrm>
          <a:prstGeom prst="roundRect">
            <a:avLst>
              <a:gd name="adj" fmla="val 4199"/>
            </a:avLst>
          </a:prstGeom>
          <a:solidFill>
            <a:srgbClr val="FFFFFF"/>
          </a:solidFill>
          <a:ln/>
        </p:spPr>
      </p:sp>
      <p:sp>
        <p:nvSpPr>
          <p:cNvPr id="9" name="Shape 7"/>
          <p:cNvSpPr/>
          <p:nvPr/>
        </p:nvSpPr>
        <p:spPr>
          <a:xfrm>
            <a:off x="6197600" y="2138629"/>
            <a:ext cx="5181600" cy="2419350"/>
          </a:xfrm>
          <a:custGeom>
            <a:avLst/>
            <a:gdLst/>
            <a:ahLst/>
            <a:cxnLst/>
            <a:rect l="l" t="t" r="r" b="b"/>
            <a:pathLst>
              <a:path w="5181600" h="241935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B4531B"/>
          </a:solidFill>
          <a:ln/>
        </p:spPr>
      </p:sp>
      <p:sp>
        <p:nvSpPr>
          <p:cNvPr id="10" name="Text 8"/>
          <p:cNvSpPr/>
          <p:nvPr/>
        </p:nvSpPr>
        <p:spPr>
          <a:xfrm>
            <a:off x="6451600" y="2443429"/>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4531B"/>
                </a:solidFill>
                <a:latin typeface="IBM Plex Sans" pitchFamily="34" charset="0"/>
                <a:ea typeface="IBM Plex Sans" pitchFamily="34" charset="-122"/>
                <a:cs typeface="IBM Plex Sans" pitchFamily="34" charset="-120"/>
              </a:rPr>
              <a:t>What it is not</a:t>
            </a:r>
            <a:endParaRPr lang="en-US" sz="2000" dirty="0"/>
          </a:p>
        </p:txBody>
      </p:sp>
      <p:sp>
        <p:nvSpPr>
          <p:cNvPr id="11" name="Text 9"/>
          <p:cNvSpPr/>
          <p:nvPr/>
        </p:nvSpPr>
        <p:spPr>
          <a:xfrm>
            <a:off x="6522720" y="2875229"/>
            <a:ext cx="4735068" cy="14541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Not a Jackson replacement</a:t>
            </a:r>
            <a:endParaRPr lang="en-US" sz="1500" dirty="0"/>
          </a:p>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No object mapping (POJO ↔ JSON)</a:t>
            </a:r>
            <a:endParaRPr lang="en-US" sz="1500" dirty="0"/>
          </a:p>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No streaming of huge files</a:t>
            </a:r>
            <a:endParaRPr lang="en-US" sz="1500" dirty="0"/>
          </a:p>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No comments, no trailing commas</a:t>
            </a:r>
            <a:endParaRPr lang="en-US" sz="1500" dirty="0"/>
          </a:p>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Not production-ready yet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B"/>
                </a:solidFill>
                <a:latin typeface="JetBrains Mono" pitchFamily="49" charset="0"/>
                <a:ea typeface="JetBrains Mono" pitchFamily="49" charset="-122"/>
                <a:cs typeface="JetBrains Mono" pitchFamily="49" charset="-120"/>
              </a:rPr>
              <a:t>FOR THE BUSINESS</a:t>
            </a:r>
            <a:endParaRPr lang="en-US" sz="1200" dirty="0"/>
          </a:p>
        </p:txBody>
      </p:sp>
      <p:sp>
        <p:nvSpPr>
          <p:cNvPr id="3" name="Text 1"/>
          <p:cNvSpPr/>
          <p:nvPr>
            <p:ph type="title"/>
          </p:nvPr>
        </p:nvSpPr>
        <p:spPr>
          <a:xfrm>
            <a:off x="812800" y="13309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Why should non-developers care?</a:t>
            </a:r>
            <a:endParaRPr lang="en-US" sz="3600" dirty="0"/>
          </a:p>
        </p:txBody>
      </p:sp>
      <p:sp>
        <p:nvSpPr>
          <p:cNvPr id="4" name="Shape 2"/>
          <p:cNvSpPr/>
          <p:nvPr/>
        </p:nvSpPr>
        <p:spPr>
          <a:xfrm>
            <a:off x="815975" y="2141804"/>
            <a:ext cx="5175250" cy="1345737"/>
          </a:xfrm>
          <a:prstGeom prst="roundRect">
            <a:avLst>
              <a:gd name="adj" fmla="val 7314"/>
            </a:avLst>
          </a:prstGeom>
          <a:solidFill>
            <a:srgbClr val="FFFFFF"/>
          </a:solidFill>
          <a:ln w="6350">
            <a:solidFill>
              <a:srgbClr val="DDD9CE"/>
            </a:solidFill>
            <a:prstDash val="solid"/>
          </a:ln>
        </p:spPr>
      </p:sp>
      <p:pic>
        <p:nvPicPr>
          <p:cNvPr id="5" name="Image 0" descr="Lock">    </p:cNvPr>
          <p:cNvPicPr>
            <a:picLocks noChangeAspect="1"/>
          </p:cNvPicPr>
          <p:nvPr/>
        </p:nvPicPr>
        <p:blipFill>
          <a:blip r:embed="rId1"/>
          <a:srcRect l="0" r="0" t="-396" b="-396"/>
          <a:stretch/>
        </p:blipFill>
        <p:spPr>
          <a:xfrm>
            <a:off x="1071033" y="2396861"/>
            <a:ext cx="333904" cy="355600"/>
          </a:xfrm>
          <a:prstGeom prst="rect">
            <a:avLst/>
          </a:prstGeom>
        </p:spPr>
      </p:pic>
      <p:sp>
        <p:nvSpPr>
          <p:cNvPr id="6" name="Text 3"/>
          <p:cNvSpPr/>
          <p:nvPr/>
        </p:nvSpPr>
        <p:spPr>
          <a:xfrm>
            <a:off x="1582738" y="2396861"/>
            <a:ext cx="4278032"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Fewer dependencies</a:t>
            </a:r>
            <a:endParaRPr lang="en-US" sz="1800" dirty="0"/>
          </a:p>
        </p:txBody>
      </p:sp>
      <p:sp>
        <p:nvSpPr>
          <p:cNvPr id="7" name="Text 4"/>
          <p:cNvSpPr/>
          <p:nvPr/>
        </p:nvSpPr>
        <p:spPr>
          <a:xfrm>
            <a:off x="1582738" y="2734667"/>
            <a:ext cx="4278032"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Less third-party code to audit, patch and license-check.</a:t>
            </a:r>
            <a:endParaRPr lang="en-US" sz="1400" dirty="0"/>
          </a:p>
        </p:txBody>
      </p:sp>
      <p:sp>
        <p:nvSpPr>
          <p:cNvPr id="8" name="Shape 5"/>
          <p:cNvSpPr/>
          <p:nvPr/>
        </p:nvSpPr>
        <p:spPr>
          <a:xfrm>
            <a:off x="6200775" y="2141804"/>
            <a:ext cx="5175250" cy="1345737"/>
          </a:xfrm>
          <a:prstGeom prst="roundRect">
            <a:avLst>
              <a:gd name="adj" fmla="val 7314"/>
            </a:avLst>
          </a:prstGeom>
          <a:solidFill>
            <a:srgbClr val="FFFFFF"/>
          </a:solidFill>
          <a:ln w="6350">
            <a:solidFill>
              <a:srgbClr val="DDD9CE"/>
            </a:solidFill>
            <a:prstDash val="solid"/>
          </a:ln>
        </p:spPr>
      </p:sp>
      <p:pic>
        <p:nvPicPr>
          <p:cNvPr id="9" name="Image 1" descr="Lightning">    </p:cNvPr>
          <p:cNvPicPr>
            <a:picLocks noChangeAspect="1"/>
          </p:cNvPicPr>
          <p:nvPr/>
        </p:nvPicPr>
        <p:blipFill>
          <a:blip r:embed="rId2"/>
          <a:srcRect l="0" r="0" t="-342" b="-342"/>
          <a:stretch/>
        </p:blipFill>
        <p:spPr>
          <a:xfrm>
            <a:off x="6455833" y="2396861"/>
            <a:ext cx="290116" cy="355600"/>
          </a:xfrm>
          <a:prstGeom prst="rect">
            <a:avLst/>
          </a:prstGeom>
        </p:spPr>
      </p:pic>
      <p:sp>
        <p:nvSpPr>
          <p:cNvPr id="10" name="Text 6"/>
          <p:cNvSpPr/>
          <p:nvPr/>
        </p:nvSpPr>
        <p:spPr>
          <a:xfrm>
            <a:off x="6923749" y="2396861"/>
            <a:ext cx="432313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Faster small wins</a:t>
            </a:r>
            <a:endParaRPr lang="en-US" sz="1800" dirty="0"/>
          </a:p>
        </p:txBody>
      </p:sp>
      <p:sp>
        <p:nvSpPr>
          <p:cNvPr id="11" name="Text 7"/>
          <p:cNvSpPr/>
          <p:nvPr/>
        </p:nvSpPr>
        <p:spPr>
          <a:xfrm>
            <a:off x="6923749" y="2734667"/>
            <a:ext cx="4323134"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Scripts, test tools and prototypes in minutes, not a project setup.</a:t>
            </a:r>
            <a:endParaRPr lang="en-US" sz="1400" dirty="0"/>
          </a:p>
        </p:txBody>
      </p:sp>
      <p:sp>
        <p:nvSpPr>
          <p:cNvPr id="12" name="Shape 8"/>
          <p:cNvSpPr/>
          <p:nvPr/>
        </p:nvSpPr>
        <p:spPr>
          <a:xfrm>
            <a:off x="815975" y="3697089"/>
            <a:ext cx="5175250" cy="1345737"/>
          </a:xfrm>
          <a:prstGeom prst="roundRect">
            <a:avLst>
              <a:gd name="adj" fmla="val 7314"/>
            </a:avLst>
          </a:prstGeom>
          <a:solidFill>
            <a:srgbClr val="FFFFFF"/>
          </a:solidFill>
          <a:ln w="6350">
            <a:solidFill>
              <a:srgbClr val="DDD9CE"/>
            </a:solidFill>
            <a:prstDash val="solid"/>
          </a:ln>
        </p:spPr>
      </p:sp>
      <p:pic>
        <p:nvPicPr>
          <p:cNvPr id="13" name="Image 2" descr="Wrench">    </p:cNvPr>
          <p:cNvPicPr>
            <a:picLocks noChangeAspect="1"/>
          </p:cNvPicPr>
          <p:nvPr/>
        </p:nvPicPr>
        <p:blipFill>
          <a:blip r:embed="rId3"/>
          <a:srcRect l="0" r="0" t="-190" b="-190"/>
          <a:stretch/>
        </p:blipFill>
        <p:spPr>
          <a:xfrm>
            <a:off x="1071033" y="3952149"/>
            <a:ext cx="208756" cy="355600"/>
          </a:xfrm>
          <a:prstGeom prst="rect">
            <a:avLst/>
          </a:prstGeom>
        </p:spPr>
      </p:pic>
      <p:sp>
        <p:nvSpPr>
          <p:cNvPr id="14" name="Text 9"/>
          <p:cNvSpPr/>
          <p:nvPr/>
        </p:nvSpPr>
        <p:spPr>
          <a:xfrm>
            <a:off x="1457590" y="3952149"/>
            <a:ext cx="440693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Better ops tooling</a:t>
            </a:r>
            <a:endParaRPr lang="en-US" sz="1800" dirty="0"/>
          </a:p>
        </p:txBody>
      </p:sp>
      <p:sp>
        <p:nvSpPr>
          <p:cNvPr id="15" name="Text 10"/>
          <p:cNvSpPr/>
          <p:nvPr/>
        </p:nvSpPr>
        <p:spPr>
          <a:xfrm>
            <a:off x="1457590" y="4289955"/>
            <a:ext cx="4406935"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JDK already exports thread dumps and JFR data as JSON. Now Java can read them too.</a:t>
            </a:r>
            <a:endParaRPr lang="en-US" sz="1400" dirty="0"/>
          </a:p>
        </p:txBody>
      </p:sp>
      <p:sp>
        <p:nvSpPr>
          <p:cNvPr id="16" name="Shape 11"/>
          <p:cNvSpPr/>
          <p:nvPr/>
        </p:nvSpPr>
        <p:spPr>
          <a:xfrm>
            <a:off x="6200775" y="3697089"/>
            <a:ext cx="5175250" cy="1345737"/>
          </a:xfrm>
          <a:prstGeom prst="roundRect">
            <a:avLst>
              <a:gd name="adj" fmla="val 7314"/>
            </a:avLst>
          </a:prstGeom>
          <a:solidFill>
            <a:srgbClr val="FFFFFF"/>
          </a:solidFill>
          <a:ln w="6350">
            <a:solidFill>
              <a:srgbClr val="DDD9CE"/>
            </a:solidFill>
            <a:prstDash val="solid"/>
          </a:ln>
        </p:spPr>
      </p:sp>
      <p:pic>
        <p:nvPicPr>
          <p:cNvPr id="17" name="Image 3" descr="Lightbulb">    </p:cNvPr>
          <p:cNvPicPr>
            <a:picLocks noChangeAspect="1"/>
          </p:cNvPicPr>
          <p:nvPr/>
        </p:nvPicPr>
        <p:blipFill>
          <a:blip r:embed="rId4"/>
          <a:srcRect l="0" r="0" t="-539" b="-539"/>
          <a:stretch/>
        </p:blipFill>
        <p:spPr>
          <a:xfrm>
            <a:off x="6455833" y="3952149"/>
            <a:ext cx="270140" cy="355600"/>
          </a:xfrm>
          <a:prstGeom prst="rect">
            <a:avLst/>
          </a:prstGeom>
        </p:spPr>
      </p:pic>
      <p:sp>
        <p:nvSpPr>
          <p:cNvPr id="18" name="Text 12"/>
          <p:cNvSpPr/>
          <p:nvPr/>
        </p:nvSpPr>
        <p:spPr>
          <a:xfrm>
            <a:off x="6903773" y="3952149"/>
            <a:ext cx="434371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AI-friendly</a:t>
            </a:r>
            <a:endParaRPr lang="en-US" sz="1800" dirty="0"/>
          </a:p>
        </p:txBody>
      </p:sp>
      <p:sp>
        <p:nvSpPr>
          <p:cNvPr id="19" name="Text 13"/>
          <p:cNvSpPr/>
          <p:nvPr/>
        </p:nvSpPr>
        <p:spPr>
          <a:xfrm>
            <a:off x="6903773" y="4289955"/>
            <a:ext cx="434371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 simple standard API is easier for AI assistants to generate correctly.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B"/>
                </a:solidFill>
                <a:latin typeface="JetBrains Mono" pitchFamily="49" charset="0"/>
                <a:ea typeface="JetBrains Mono" pitchFamily="49" charset="-122"/>
                <a:cs typeface="JetBrains Mono" pitchFamily="49" charset="-120"/>
              </a:rPr>
              <a:t>THE API IN 60 SECONDS</a:t>
            </a:r>
            <a:endParaRPr lang="en-US" sz="1200" dirty="0"/>
          </a:p>
        </p:txBody>
      </p:sp>
      <p:sp>
        <p:nvSpPr>
          <p:cNvPr id="3" name="Text 1"/>
          <p:cNvSpPr/>
          <p:nvPr>
            <p:ph type="title"/>
          </p:nvPr>
        </p:nvSpPr>
        <p:spPr>
          <a:xfrm>
            <a:off x="812800" y="12801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Six types, two directions</a:t>
            </a:r>
            <a:endParaRPr lang="en-US" sz="3600" dirty="0"/>
          </a:p>
        </p:txBody>
      </p:sp>
      <p:sp>
        <p:nvSpPr>
          <p:cNvPr id="4" name="Text 2"/>
          <p:cNvSpPr/>
          <p:nvPr/>
        </p:nvSpPr>
        <p:spPr>
          <a:xfrm>
            <a:off x="2047214" y="2037029"/>
            <a:ext cx="2407973" cy="538427"/>
          </a:xfrm>
          <a:prstGeom prst="roundRect">
            <a:avLst>
              <a:gd name="adj" fmla="val 14152"/>
            </a:avLst>
          </a:prstGeom>
          <a:solidFill>
            <a:srgbClr val="14213D"/>
          </a:solidFill>
          <a:ln/>
        </p:spPr>
        <p:txBody>
          <a:bodyPr wrap="none" lIns="0" tIns="0" rIns="0" bIns="0" rtlCol="0" anchor="ctr">
            <a:normAutofit/>
          </a:bodyPr>
          <a:lstStyle/>
          <a:p>
            <a:pPr algn="ctr" indent="0" marL="0">
              <a:lnSpc>
                <a:spcPts val="2240"/>
              </a:lnSpc>
              <a:buNone/>
            </a:pPr>
            <a:r>
              <a:rPr lang="en-US" sz="1600" b="1" dirty="0">
                <a:solidFill>
                  <a:srgbClr val="F7F6F2"/>
                </a:solidFill>
                <a:latin typeface="JetBrains Mono" pitchFamily="49" charset="0"/>
                <a:ea typeface="JetBrains Mono" pitchFamily="49" charset="-122"/>
                <a:cs typeface="JetBrains Mono" pitchFamily="49" charset="-120"/>
              </a:rPr>
              <a:t>sealed JsonValue</a:t>
            </a:r>
            <a:endParaRPr lang="en-US" sz="1600" dirty="0"/>
          </a:p>
        </p:txBody>
      </p:sp>
      <p:sp>
        <p:nvSpPr>
          <p:cNvPr id="5" name="Text 3"/>
          <p:cNvSpPr/>
          <p:nvPr/>
        </p:nvSpPr>
        <p:spPr>
          <a:xfrm>
            <a:off x="819150" y="2708805"/>
            <a:ext cx="1545167" cy="429220"/>
          </a:xfrm>
          <a:prstGeom prst="roundRect">
            <a:avLst>
              <a:gd name="adj" fmla="val 13315"/>
            </a:avLst>
          </a:prstGeom>
          <a:solidFill>
            <a:srgbClr val="FFFFFF"/>
          </a:solidFill>
          <a:ln w="12700">
            <a:solidFill>
              <a:srgbClr val="2F5FD0"/>
            </a:solidFill>
            <a:prstDash val="solid"/>
          </a:ln>
        </p:spPr>
        <p:txBody>
          <a:bodyPr wrap="square" lIns="65811" tIns="91211" rIns="65811" bIns="65811" rtlCol="0" anchor="t">
            <a:normAutofit/>
          </a:bodyPr>
          <a:lstStyle/>
          <a:p>
            <a:pPr algn="ctr" indent="0" marL="0">
              <a:lnSpc>
                <a:spcPts val="1680"/>
              </a:lnSpc>
              <a:buNone/>
            </a:pPr>
            <a:r>
              <a:rPr lang="en-US" sz="1200" dirty="0">
                <a:solidFill>
                  <a:srgbClr val="2F5FD0"/>
                </a:solidFill>
                <a:latin typeface="JetBrains Mono" pitchFamily="49" charset="0"/>
                <a:ea typeface="JetBrains Mono" pitchFamily="49" charset="-122"/>
                <a:cs typeface="JetBrains Mono" pitchFamily="49" charset="-120"/>
              </a:rPr>
              <a:t>JsonObject</a:t>
            </a:r>
            <a:endParaRPr lang="en-US" sz="1200" dirty="0"/>
          </a:p>
        </p:txBody>
      </p:sp>
      <p:sp>
        <p:nvSpPr>
          <p:cNvPr id="6" name="Text 4"/>
          <p:cNvSpPr/>
          <p:nvPr/>
        </p:nvSpPr>
        <p:spPr>
          <a:xfrm>
            <a:off x="2478617" y="2708805"/>
            <a:ext cx="1545167" cy="429220"/>
          </a:xfrm>
          <a:prstGeom prst="roundRect">
            <a:avLst>
              <a:gd name="adj" fmla="val 13315"/>
            </a:avLst>
          </a:prstGeom>
          <a:solidFill>
            <a:srgbClr val="FFFFFF"/>
          </a:solidFill>
          <a:ln w="12700">
            <a:solidFill>
              <a:srgbClr val="2F5FD0"/>
            </a:solidFill>
            <a:prstDash val="solid"/>
          </a:ln>
        </p:spPr>
        <p:txBody>
          <a:bodyPr wrap="square" lIns="65811" tIns="91211" rIns="65811" bIns="65811" rtlCol="0" anchor="t">
            <a:normAutofit/>
          </a:bodyPr>
          <a:lstStyle/>
          <a:p>
            <a:pPr algn="ctr" indent="0" marL="0">
              <a:lnSpc>
                <a:spcPts val="1680"/>
              </a:lnSpc>
              <a:buNone/>
            </a:pPr>
            <a:r>
              <a:rPr lang="en-US" sz="1200" dirty="0">
                <a:solidFill>
                  <a:srgbClr val="2F5FD0"/>
                </a:solidFill>
                <a:latin typeface="JetBrains Mono" pitchFamily="49" charset="0"/>
                <a:ea typeface="JetBrains Mono" pitchFamily="49" charset="-122"/>
                <a:cs typeface="JetBrains Mono" pitchFamily="49" charset="-120"/>
              </a:rPr>
              <a:t>JsonArray</a:t>
            </a:r>
            <a:endParaRPr lang="en-US" sz="1200" dirty="0"/>
          </a:p>
        </p:txBody>
      </p:sp>
      <p:sp>
        <p:nvSpPr>
          <p:cNvPr id="7" name="Text 5"/>
          <p:cNvSpPr/>
          <p:nvPr/>
        </p:nvSpPr>
        <p:spPr>
          <a:xfrm>
            <a:off x="4138083" y="2708805"/>
            <a:ext cx="1545167" cy="429220"/>
          </a:xfrm>
          <a:prstGeom prst="roundRect">
            <a:avLst>
              <a:gd name="adj" fmla="val 13315"/>
            </a:avLst>
          </a:prstGeom>
          <a:solidFill>
            <a:srgbClr val="FFFFFF"/>
          </a:solidFill>
          <a:ln w="12700">
            <a:solidFill>
              <a:srgbClr val="2F5FD0"/>
            </a:solidFill>
            <a:prstDash val="solid"/>
          </a:ln>
        </p:spPr>
        <p:txBody>
          <a:bodyPr wrap="square" lIns="65811" tIns="91211" rIns="65811" bIns="65811" rtlCol="0" anchor="t">
            <a:normAutofit/>
          </a:bodyPr>
          <a:lstStyle/>
          <a:p>
            <a:pPr algn="ctr" indent="0" marL="0">
              <a:lnSpc>
                <a:spcPts val="1680"/>
              </a:lnSpc>
              <a:buNone/>
            </a:pPr>
            <a:r>
              <a:rPr lang="en-US" sz="1200" dirty="0">
                <a:solidFill>
                  <a:srgbClr val="2F5FD0"/>
                </a:solidFill>
                <a:latin typeface="JetBrains Mono" pitchFamily="49" charset="0"/>
                <a:ea typeface="JetBrains Mono" pitchFamily="49" charset="-122"/>
                <a:cs typeface="JetBrains Mono" pitchFamily="49" charset="-120"/>
              </a:rPr>
              <a:t>JsonString</a:t>
            </a:r>
            <a:endParaRPr lang="en-US" sz="1200" dirty="0"/>
          </a:p>
        </p:txBody>
      </p:sp>
      <p:sp>
        <p:nvSpPr>
          <p:cNvPr id="8" name="Text 6"/>
          <p:cNvSpPr/>
          <p:nvPr/>
        </p:nvSpPr>
        <p:spPr>
          <a:xfrm>
            <a:off x="819150" y="3252326"/>
            <a:ext cx="1545167" cy="429220"/>
          </a:xfrm>
          <a:prstGeom prst="roundRect">
            <a:avLst>
              <a:gd name="adj" fmla="val 13315"/>
            </a:avLst>
          </a:prstGeom>
          <a:solidFill>
            <a:srgbClr val="FFFFFF"/>
          </a:solidFill>
          <a:ln w="12700">
            <a:solidFill>
              <a:srgbClr val="2F5FD0"/>
            </a:solidFill>
            <a:prstDash val="solid"/>
          </a:ln>
        </p:spPr>
        <p:txBody>
          <a:bodyPr wrap="square" lIns="65811" tIns="91211" rIns="65811" bIns="65811" rtlCol="0" anchor="t">
            <a:normAutofit/>
          </a:bodyPr>
          <a:lstStyle/>
          <a:p>
            <a:pPr algn="ctr" indent="0" marL="0">
              <a:lnSpc>
                <a:spcPts val="1680"/>
              </a:lnSpc>
              <a:buNone/>
            </a:pPr>
            <a:r>
              <a:rPr lang="en-US" sz="1200" dirty="0">
                <a:solidFill>
                  <a:srgbClr val="2F5FD0"/>
                </a:solidFill>
                <a:latin typeface="JetBrains Mono" pitchFamily="49" charset="0"/>
                <a:ea typeface="JetBrains Mono" pitchFamily="49" charset="-122"/>
                <a:cs typeface="JetBrains Mono" pitchFamily="49" charset="-120"/>
              </a:rPr>
              <a:t>JsonNumber</a:t>
            </a:r>
            <a:endParaRPr lang="en-US" sz="1200" dirty="0"/>
          </a:p>
        </p:txBody>
      </p:sp>
      <p:sp>
        <p:nvSpPr>
          <p:cNvPr id="9" name="Text 7"/>
          <p:cNvSpPr/>
          <p:nvPr/>
        </p:nvSpPr>
        <p:spPr>
          <a:xfrm>
            <a:off x="2478617" y="3252326"/>
            <a:ext cx="1545167" cy="429220"/>
          </a:xfrm>
          <a:prstGeom prst="roundRect">
            <a:avLst>
              <a:gd name="adj" fmla="val 13315"/>
            </a:avLst>
          </a:prstGeom>
          <a:solidFill>
            <a:srgbClr val="FFFFFF"/>
          </a:solidFill>
          <a:ln w="12700">
            <a:solidFill>
              <a:srgbClr val="2F5FD0"/>
            </a:solidFill>
            <a:prstDash val="solid"/>
          </a:ln>
        </p:spPr>
        <p:txBody>
          <a:bodyPr wrap="square" lIns="65811" tIns="91211" rIns="65811" bIns="65811" rtlCol="0" anchor="t">
            <a:normAutofit/>
          </a:bodyPr>
          <a:lstStyle/>
          <a:p>
            <a:pPr algn="ctr" indent="0" marL="0">
              <a:lnSpc>
                <a:spcPts val="1680"/>
              </a:lnSpc>
              <a:buNone/>
            </a:pPr>
            <a:r>
              <a:rPr lang="en-US" sz="1200" dirty="0">
                <a:solidFill>
                  <a:srgbClr val="2F5FD0"/>
                </a:solidFill>
                <a:latin typeface="JetBrains Mono" pitchFamily="49" charset="0"/>
                <a:ea typeface="JetBrains Mono" pitchFamily="49" charset="-122"/>
                <a:cs typeface="JetBrains Mono" pitchFamily="49" charset="-120"/>
              </a:rPr>
              <a:t>JsonBoolean</a:t>
            </a:r>
            <a:endParaRPr lang="en-US" sz="1200" dirty="0"/>
          </a:p>
        </p:txBody>
      </p:sp>
      <p:sp>
        <p:nvSpPr>
          <p:cNvPr id="10" name="Text 8"/>
          <p:cNvSpPr/>
          <p:nvPr/>
        </p:nvSpPr>
        <p:spPr>
          <a:xfrm>
            <a:off x="4138083" y="3252326"/>
            <a:ext cx="1545167" cy="429220"/>
          </a:xfrm>
          <a:prstGeom prst="roundRect">
            <a:avLst>
              <a:gd name="adj" fmla="val 13315"/>
            </a:avLst>
          </a:prstGeom>
          <a:solidFill>
            <a:srgbClr val="FFFFFF"/>
          </a:solidFill>
          <a:ln w="12700">
            <a:solidFill>
              <a:srgbClr val="2F5FD0"/>
            </a:solidFill>
            <a:prstDash val="solid"/>
          </a:ln>
        </p:spPr>
        <p:txBody>
          <a:bodyPr wrap="square" lIns="65811" tIns="91211" rIns="65811" bIns="65811" rtlCol="0" anchor="t">
            <a:normAutofit/>
          </a:bodyPr>
          <a:lstStyle/>
          <a:p>
            <a:pPr algn="ctr" indent="0" marL="0">
              <a:lnSpc>
                <a:spcPts val="1680"/>
              </a:lnSpc>
              <a:buNone/>
            </a:pPr>
            <a:r>
              <a:rPr lang="en-US" sz="1200" dirty="0">
                <a:solidFill>
                  <a:srgbClr val="2F5FD0"/>
                </a:solidFill>
                <a:latin typeface="JetBrains Mono" pitchFamily="49" charset="0"/>
                <a:ea typeface="JetBrains Mono" pitchFamily="49" charset="-122"/>
                <a:cs typeface="JetBrains Mono" pitchFamily="49" charset="-120"/>
              </a:rPr>
              <a:t>JsonNull</a:t>
            </a:r>
            <a:endParaRPr lang="en-US" sz="1200" dirty="0"/>
          </a:p>
        </p:txBody>
      </p:sp>
      <p:sp>
        <p:nvSpPr>
          <p:cNvPr id="11" name="Text 9"/>
          <p:cNvSpPr/>
          <p:nvPr/>
        </p:nvSpPr>
        <p:spPr>
          <a:xfrm>
            <a:off x="713032" y="3814896"/>
            <a:ext cx="5076270" cy="274307"/>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Immutable tree · works with switch pattern matching</a:t>
            </a:r>
            <a:endParaRPr lang="en-US" sz="1400" dirty="0"/>
          </a:p>
        </p:txBody>
      </p:sp>
      <p:sp>
        <p:nvSpPr>
          <p:cNvPr id="12" name="Shape 10"/>
          <p:cNvSpPr/>
          <p:nvPr/>
        </p:nvSpPr>
        <p:spPr>
          <a:xfrm>
            <a:off x="5994400" y="2037029"/>
            <a:ext cx="5384800" cy="3855376"/>
          </a:xfrm>
          <a:prstGeom prst="roundRect">
            <a:avLst>
              <a:gd name="adj" fmla="val 2635"/>
            </a:avLst>
          </a:prstGeom>
          <a:solidFill>
            <a:srgbClr val="1B2436"/>
          </a:solidFill>
          <a:ln/>
        </p:spPr>
      </p:sp>
      <p:sp>
        <p:nvSpPr>
          <p:cNvPr id="13" name="Text 11"/>
          <p:cNvSpPr/>
          <p:nvPr/>
        </p:nvSpPr>
        <p:spPr>
          <a:xfrm>
            <a:off x="6248400" y="2291029"/>
            <a:ext cx="502310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A3BF"/>
                </a:solidFill>
                <a:latin typeface="JetBrains Mono" pitchFamily="49" charset="0"/>
                <a:ea typeface="JetBrains Mono" pitchFamily="49" charset="-122"/>
                <a:cs typeface="JetBrains Mono" pitchFamily="49" charset="-120"/>
              </a:rPr>
              <a:t>// text → tree</a:t>
            </a:r>
            <a:endParaRPr lang="en-US" sz="1300" dirty="0"/>
          </a:p>
        </p:txBody>
      </p:sp>
      <p:sp>
        <p:nvSpPr>
          <p:cNvPr id="14" name="Text 12"/>
          <p:cNvSpPr/>
          <p:nvPr/>
        </p:nvSpPr>
        <p:spPr>
          <a:xfrm>
            <a:off x="6248400" y="2560241"/>
            <a:ext cx="502310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EAF0"/>
                </a:solidFill>
                <a:latin typeface="JetBrains Mono" pitchFamily="49" charset="0"/>
                <a:ea typeface="JetBrains Mono" pitchFamily="49" charset="-122"/>
                <a:cs typeface="JetBrains Mono" pitchFamily="49" charset="-120"/>
              </a:rPr>
              <a:t>Json.parse(text)</a:t>
            </a:r>
            <a:endParaRPr lang="en-US" sz="1300" dirty="0"/>
          </a:p>
        </p:txBody>
      </p:sp>
      <p:sp>
        <p:nvSpPr>
          <p:cNvPr id="15" name="Text 13"/>
          <p:cNvSpPr/>
          <p:nvPr/>
        </p:nvSpPr>
        <p:spPr>
          <a:xfrm>
            <a:off x="6248400" y="2829455"/>
            <a:ext cx="5023104" cy="487627"/>
          </a:xfrm>
          <a:prstGeom prst="rect">
            <a:avLst/>
          </a:prstGeom>
          <a:noFill/>
          <a:ln/>
        </p:spPr>
        <p:txBody>
          <a:bodyPr wrap="square" lIns="0" tIns="0" rIns="0" bIns="0" rtlCol="0" anchor="t">
            <a:normAutofit/>
          </a:bodyPr>
          <a:lstStyle/>
          <a:p>
            <a:pPr algn="l" indent="0" marL="0">
              <a:lnSpc>
                <a:spcPts val="1820"/>
              </a:lnSpc>
              <a:buNone/>
            </a:pPr>
            <a:endParaRPr lang="en-US" sz="1300" dirty="0"/>
          </a:p>
          <a:p>
            <a:pPr algn="l" indent="0" marL="0">
              <a:lnSpc>
                <a:spcPts val="1820"/>
              </a:lnSpc>
              <a:buNone/>
            </a:pPr>
            <a:r>
              <a:rPr lang="en-US" sz="1300" dirty="0">
                <a:solidFill>
                  <a:srgbClr val="8FA3BF"/>
                </a:solidFill>
                <a:latin typeface="JetBrains Mono" pitchFamily="49" charset="0"/>
                <a:ea typeface="JetBrains Mono" pitchFamily="49" charset="-122"/>
                <a:cs typeface="JetBrains Mono" pitchFamily="49" charset="-120"/>
              </a:rPr>
              <a:t>// navigate</a:t>
            </a:r>
            <a:endParaRPr lang="en-US" sz="1300" dirty="0"/>
          </a:p>
        </p:txBody>
      </p:sp>
      <p:sp>
        <p:nvSpPr>
          <p:cNvPr id="16" name="Text 14"/>
          <p:cNvSpPr/>
          <p:nvPr/>
        </p:nvSpPr>
        <p:spPr>
          <a:xfrm>
            <a:off x="6248400" y="3329781"/>
            <a:ext cx="502310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EAF0"/>
                </a:solidFill>
                <a:latin typeface="JetBrains Mono" pitchFamily="49" charset="0"/>
                <a:ea typeface="JetBrains Mono" pitchFamily="49" charset="-122"/>
                <a:cs typeface="JetBrains Mono" pitchFamily="49" charset="-120"/>
              </a:rPr>
              <a:t>.get("name") .get(0)</a:t>
            </a:r>
            <a:endParaRPr lang="en-US" sz="1300" dirty="0"/>
          </a:p>
        </p:txBody>
      </p:sp>
      <p:sp>
        <p:nvSpPr>
          <p:cNvPr id="17" name="Text 15"/>
          <p:cNvSpPr/>
          <p:nvPr/>
        </p:nvSpPr>
        <p:spPr>
          <a:xfrm>
            <a:off x="6248400" y="3598996"/>
            <a:ext cx="502310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EAF0"/>
                </a:solidFill>
                <a:latin typeface="JetBrains Mono" pitchFamily="49" charset="0"/>
                <a:ea typeface="JetBrains Mono" pitchFamily="49" charset="-122"/>
                <a:cs typeface="JetBrains Mono" pitchFamily="49" charset="-120"/>
              </a:rPr>
              <a:t>.tryGet("port") </a:t>
            </a:r>
            <a:r>
              <a:rPr lang="en-US" sz="1300" dirty="0">
                <a:solidFill>
                  <a:srgbClr val="E07A2F"/>
                </a:solidFill>
                <a:latin typeface="JetBrains Mono" pitchFamily="49" charset="0"/>
                <a:ea typeface="JetBrains Mono" pitchFamily="49" charset="-122"/>
                <a:cs typeface="JetBrains Mono" pitchFamily="49" charset="-120"/>
              </a:rPr>
              <a:t>→ Optional</a:t>
            </a:r>
            <a:endParaRPr lang="en-US" sz="1300" dirty="0"/>
          </a:p>
        </p:txBody>
      </p:sp>
      <p:sp>
        <p:nvSpPr>
          <p:cNvPr id="18" name="Text 16"/>
          <p:cNvSpPr/>
          <p:nvPr/>
        </p:nvSpPr>
        <p:spPr>
          <a:xfrm>
            <a:off x="6248400" y="3868210"/>
            <a:ext cx="5023104" cy="487627"/>
          </a:xfrm>
          <a:prstGeom prst="rect">
            <a:avLst/>
          </a:prstGeom>
          <a:noFill/>
          <a:ln/>
        </p:spPr>
        <p:txBody>
          <a:bodyPr wrap="square" lIns="0" tIns="0" rIns="0" bIns="0" rtlCol="0" anchor="t">
            <a:normAutofit/>
          </a:bodyPr>
          <a:lstStyle/>
          <a:p>
            <a:pPr algn="l" indent="0" marL="0">
              <a:lnSpc>
                <a:spcPts val="1820"/>
              </a:lnSpc>
              <a:buNone/>
            </a:pPr>
            <a:endParaRPr lang="en-US" sz="1300" dirty="0"/>
          </a:p>
          <a:p>
            <a:pPr algn="l" indent="0" marL="0">
              <a:lnSpc>
                <a:spcPts val="1820"/>
              </a:lnSpc>
              <a:buNone/>
            </a:pPr>
            <a:r>
              <a:rPr lang="en-US" sz="1300" dirty="0">
                <a:solidFill>
                  <a:srgbClr val="8FA3BF"/>
                </a:solidFill>
                <a:latin typeface="JetBrains Mono" pitchFamily="49" charset="0"/>
                <a:ea typeface="JetBrains Mono" pitchFamily="49" charset="-122"/>
                <a:cs typeface="JetBrains Mono" pitchFamily="49" charset="-120"/>
              </a:rPr>
              <a:t>// convert (no guessing)</a:t>
            </a:r>
            <a:endParaRPr lang="en-US" sz="1300" dirty="0"/>
          </a:p>
        </p:txBody>
      </p:sp>
      <p:sp>
        <p:nvSpPr>
          <p:cNvPr id="19" name="Text 17"/>
          <p:cNvSpPr/>
          <p:nvPr/>
        </p:nvSpPr>
        <p:spPr>
          <a:xfrm>
            <a:off x="6248400" y="4368536"/>
            <a:ext cx="502310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EAF0"/>
                </a:solidFill>
                <a:latin typeface="JetBrains Mono" pitchFamily="49" charset="0"/>
                <a:ea typeface="JetBrains Mono" pitchFamily="49" charset="-122"/>
                <a:cs typeface="JetBrains Mono" pitchFamily="49" charset="-120"/>
              </a:rPr>
              <a:t>.asString() .asInt() .asList()</a:t>
            </a:r>
            <a:endParaRPr lang="en-US" sz="1300" dirty="0"/>
          </a:p>
        </p:txBody>
      </p:sp>
      <p:sp>
        <p:nvSpPr>
          <p:cNvPr id="20" name="Text 18"/>
          <p:cNvSpPr/>
          <p:nvPr/>
        </p:nvSpPr>
        <p:spPr>
          <a:xfrm>
            <a:off x="6248400" y="4637751"/>
            <a:ext cx="5023104" cy="487627"/>
          </a:xfrm>
          <a:prstGeom prst="rect">
            <a:avLst/>
          </a:prstGeom>
          <a:noFill/>
          <a:ln/>
        </p:spPr>
        <p:txBody>
          <a:bodyPr wrap="square" lIns="0" tIns="0" rIns="0" bIns="0" rtlCol="0" anchor="t">
            <a:normAutofit/>
          </a:bodyPr>
          <a:lstStyle/>
          <a:p>
            <a:pPr algn="l" indent="0" marL="0">
              <a:lnSpc>
                <a:spcPts val="1820"/>
              </a:lnSpc>
              <a:buNone/>
            </a:pPr>
            <a:endParaRPr lang="en-US" sz="1300" dirty="0"/>
          </a:p>
          <a:p>
            <a:pPr algn="l" indent="0" marL="0">
              <a:lnSpc>
                <a:spcPts val="1820"/>
              </a:lnSpc>
              <a:buNone/>
            </a:pPr>
            <a:r>
              <a:rPr lang="en-US" sz="1300" dirty="0">
                <a:solidFill>
                  <a:srgbClr val="8FA3BF"/>
                </a:solidFill>
                <a:latin typeface="JetBrains Mono" pitchFamily="49" charset="0"/>
                <a:ea typeface="JetBrains Mono" pitchFamily="49" charset="-122"/>
                <a:cs typeface="JetBrains Mono" pitchFamily="49" charset="-120"/>
              </a:rPr>
              <a:t>// tree → text</a:t>
            </a:r>
            <a:endParaRPr lang="en-US" sz="1300" dirty="0"/>
          </a:p>
        </p:txBody>
      </p:sp>
      <p:sp>
        <p:nvSpPr>
          <p:cNvPr id="21" name="Text 19"/>
          <p:cNvSpPr/>
          <p:nvPr/>
        </p:nvSpPr>
        <p:spPr>
          <a:xfrm>
            <a:off x="6248400" y="5138077"/>
            <a:ext cx="502310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EAF0"/>
                </a:solidFill>
                <a:latin typeface="JetBrains Mono" pitchFamily="49" charset="0"/>
                <a:ea typeface="JetBrains Mono" pitchFamily="49" charset="-122"/>
                <a:cs typeface="JetBrains Mono" pitchFamily="49" charset="-120"/>
              </a:rPr>
              <a:t>value.toString() </a:t>
            </a:r>
            <a:r>
              <a:rPr lang="en-US" sz="1300" dirty="0">
                <a:solidFill>
                  <a:srgbClr val="8FA3BF"/>
                </a:solidFill>
                <a:latin typeface="JetBrains Mono" pitchFamily="49" charset="0"/>
                <a:ea typeface="JetBrains Mono" pitchFamily="49" charset="-122"/>
                <a:cs typeface="JetBrains Mono" pitchFamily="49" charset="-120"/>
              </a:rPr>
              <a:t>// compact</a:t>
            </a:r>
            <a:endParaRPr lang="en-US" sz="1300" dirty="0"/>
          </a:p>
        </p:txBody>
      </p:sp>
      <p:sp>
        <p:nvSpPr>
          <p:cNvPr id="22" name="Text 20"/>
          <p:cNvSpPr/>
          <p:nvPr/>
        </p:nvSpPr>
        <p:spPr>
          <a:xfrm>
            <a:off x="6248400" y="5407292"/>
            <a:ext cx="502310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EAF0"/>
                </a:solidFill>
                <a:latin typeface="JetBrains Mono" pitchFamily="49" charset="0"/>
                <a:ea typeface="JetBrains Mono" pitchFamily="49" charset="-122"/>
                <a:cs typeface="JetBrains Mono" pitchFamily="49" charset="-120"/>
              </a:rPr>
              <a:t>Json.toDisplayString(v, " ")</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B"/>
                </a:solidFill>
                <a:latin typeface="JetBrains Mono" pitchFamily="49" charset="0"/>
                <a:ea typeface="JetBrains Mono" pitchFamily="49" charset="-122"/>
                <a:cs typeface="JetBrains Mono" pitchFamily="49" charset="-120"/>
              </a:rPr>
              <a:t>BEFORE / NOW · 1 OF 3</a:t>
            </a:r>
            <a:endParaRPr lang="en-US" sz="1200" dirty="0"/>
          </a:p>
        </p:txBody>
      </p:sp>
      <p:sp>
        <p:nvSpPr>
          <p:cNvPr id="3" name="Text 1"/>
          <p:cNvSpPr/>
          <p:nvPr>
            <p:ph type="title"/>
          </p:nvPr>
        </p:nvSpPr>
        <p:spPr>
          <a:xfrm>
            <a:off x="812800" y="12801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Read a config file, port is optional</a:t>
            </a:r>
            <a:endParaRPr lang="en-US" sz="3600" dirty="0"/>
          </a:p>
        </p:txBody>
      </p:sp>
      <p:sp>
        <p:nvSpPr>
          <p:cNvPr id="4" name="Text 2"/>
          <p:cNvSpPr/>
          <p:nvPr/>
        </p:nvSpPr>
        <p:spPr>
          <a:xfrm>
            <a:off x="812800" y="2037029"/>
            <a:ext cx="533704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531B"/>
                </a:solidFill>
                <a:latin typeface="IBM Plex Sans" pitchFamily="34" charset="0"/>
                <a:ea typeface="IBM Plex Sans" pitchFamily="34" charset="-122"/>
                <a:cs typeface="IBM Plex Sans" pitchFamily="34" charset="-120"/>
              </a:rPr>
              <a:t>BEFORE · Java 21/25 + Jackson</a:t>
            </a:r>
            <a:endParaRPr lang="en-US" sz="1400" dirty="0"/>
          </a:p>
        </p:txBody>
      </p:sp>
      <p:sp>
        <p:nvSpPr>
          <p:cNvPr id="5" name="Shape 3"/>
          <p:cNvSpPr/>
          <p:nvPr/>
        </p:nvSpPr>
        <p:spPr>
          <a:xfrm>
            <a:off x="812800" y="2387535"/>
            <a:ext cx="5181600" cy="2341563"/>
          </a:xfrm>
          <a:prstGeom prst="roundRect">
            <a:avLst>
              <a:gd name="adj" fmla="val 4339"/>
            </a:avLst>
          </a:prstGeom>
          <a:solidFill>
            <a:srgbClr val="1B2436"/>
          </a:solidFill>
          <a:ln/>
        </p:spPr>
      </p:sp>
      <p:sp>
        <p:nvSpPr>
          <p:cNvPr id="6" name="Shape 4"/>
          <p:cNvSpPr/>
          <p:nvPr/>
        </p:nvSpPr>
        <p:spPr>
          <a:xfrm>
            <a:off x="812800" y="2387535"/>
            <a:ext cx="5181600" cy="2341563"/>
          </a:xfrm>
          <a:custGeom>
            <a:avLst/>
            <a:gdLst/>
            <a:ahLst/>
            <a:cxnLst/>
            <a:rect l="l" t="t" r="r" b="b"/>
            <a:pathLst>
              <a:path w="5181600" h="2341563">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B4531B"/>
          </a:solidFill>
          <a:ln/>
        </p:spPr>
      </p:sp>
      <p:sp>
        <p:nvSpPr>
          <p:cNvPr id="7" name="Text 5"/>
          <p:cNvSpPr/>
          <p:nvPr/>
        </p:nvSpPr>
        <p:spPr>
          <a:xfrm>
            <a:off x="1016000" y="2641535"/>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JetBrains Mono" pitchFamily="49" charset="0"/>
                <a:ea typeface="JetBrains Mono" pitchFamily="49" charset="-122"/>
                <a:cs typeface="JetBrains Mono" pitchFamily="49" charset="-120"/>
              </a:rPr>
              <a:t>// + pom.xml dependency, + jars</a:t>
            </a:r>
            <a:endParaRPr lang="en-US" sz="1200" dirty="0"/>
          </a:p>
        </p:txBody>
      </p:sp>
      <p:sp>
        <p:nvSpPr>
          <p:cNvPr id="8" name="Text 6"/>
          <p:cNvSpPr/>
          <p:nvPr/>
        </p:nvSpPr>
        <p:spPr>
          <a:xfrm>
            <a:off x="1016000" y="2880255"/>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var mapper = new ObjectMapper();</a:t>
            </a:r>
            <a:endParaRPr lang="en-US" sz="1200" dirty="0"/>
          </a:p>
        </p:txBody>
      </p:sp>
      <p:sp>
        <p:nvSpPr>
          <p:cNvPr id="9" name="Text 7"/>
          <p:cNvSpPr/>
          <p:nvPr/>
        </p:nvSpPr>
        <p:spPr>
          <a:xfrm>
            <a:off x="1016000" y="3118976"/>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JsonNode json = mapper.readTree(</a:t>
            </a:r>
            <a:endParaRPr lang="en-US" sz="1200" dirty="0"/>
          </a:p>
        </p:txBody>
      </p:sp>
      <p:sp>
        <p:nvSpPr>
          <p:cNvPr id="10" name="Text 8"/>
          <p:cNvSpPr/>
          <p:nvPr/>
        </p:nvSpPr>
        <p:spPr>
          <a:xfrm>
            <a:off x="1016000" y="3357696"/>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Path.of("config.json").toFile());</a:t>
            </a:r>
            <a:endParaRPr lang="en-US" sz="1200" dirty="0"/>
          </a:p>
        </p:txBody>
      </p:sp>
      <p:sp>
        <p:nvSpPr>
          <p:cNvPr id="11" name="Text 9"/>
          <p:cNvSpPr/>
          <p:nvPr/>
        </p:nvSpPr>
        <p:spPr>
          <a:xfrm>
            <a:off x="1016000" y="3596416"/>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var cs = Charset.forName(</a:t>
            </a:r>
            <a:endParaRPr lang="en-US" sz="1200" dirty="0"/>
          </a:p>
        </p:txBody>
      </p:sp>
      <p:sp>
        <p:nvSpPr>
          <p:cNvPr id="12" name="Text 10"/>
          <p:cNvSpPr/>
          <p:nvPr/>
        </p:nvSpPr>
        <p:spPr>
          <a:xfrm>
            <a:off x="1016000" y="3835136"/>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json.get("charset").asText());</a:t>
            </a:r>
            <a:endParaRPr lang="en-US" sz="1200" dirty="0"/>
          </a:p>
        </p:txBody>
      </p:sp>
      <p:sp>
        <p:nvSpPr>
          <p:cNvPr id="13" name="Text 11"/>
          <p:cNvSpPr/>
          <p:nvPr/>
        </p:nvSpPr>
        <p:spPr>
          <a:xfrm>
            <a:off x="1016000" y="4073860"/>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int port = json.has("port")</a:t>
            </a:r>
            <a:endParaRPr lang="en-US" sz="1200" dirty="0"/>
          </a:p>
        </p:txBody>
      </p:sp>
      <p:sp>
        <p:nvSpPr>
          <p:cNvPr id="14" name="Text 12"/>
          <p:cNvSpPr/>
          <p:nvPr/>
        </p:nvSpPr>
        <p:spPr>
          <a:xfrm>
            <a:off x="1016000" y="4312580"/>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 json.get("port").asInt() : 8080;</a:t>
            </a:r>
            <a:endParaRPr lang="en-US" sz="1200" dirty="0"/>
          </a:p>
        </p:txBody>
      </p:sp>
      <p:sp>
        <p:nvSpPr>
          <p:cNvPr id="15" name="Text 13"/>
          <p:cNvSpPr/>
          <p:nvPr/>
        </p:nvSpPr>
        <p:spPr>
          <a:xfrm>
            <a:off x="6197600" y="2037029"/>
            <a:ext cx="533704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5FD0"/>
                </a:solidFill>
                <a:latin typeface="IBM Plex Sans" pitchFamily="34" charset="0"/>
                <a:ea typeface="IBM Plex Sans" pitchFamily="34" charset="-122"/>
                <a:cs typeface="IBM Plex Sans" pitchFamily="34" charset="-120"/>
              </a:rPr>
              <a:t>NOW · JDK 28, nothing to add</a:t>
            </a:r>
            <a:endParaRPr lang="en-US" sz="1400" dirty="0"/>
          </a:p>
        </p:txBody>
      </p:sp>
      <p:sp>
        <p:nvSpPr>
          <p:cNvPr id="16" name="Shape 14"/>
          <p:cNvSpPr/>
          <p:nvPr/>
        </p:nvSpPr>
        <p:spPr>
          <a:xfrm>
            <a:off x="6197600" y="2387535"/>
            <a:ext cx="5181600" cy="2102842"/>
          </a:xfrm>
          <a:prstGeom prst="roundRect">
            <a:avLst>
              <a:gd name="adj" fmla="val 4832"/>
            </a:avLst>
          </a:prstGeom>
          <a:solidFill>
            <a:srgbClr val="1B2436"/>
          </a:solidFill>
          <a:ln/>
        </p:spPr>
      </p:sp>
      <p:sp>
        <p:nvSpPr>
          <p:cNvPr id="17" name="Shape 15"/>
          <p:cNvSpPr/>
          <p:nvPr/>
        </p:nvSpPr>
        <p:spPr>
          <a:xfrm>
            <a:off x="6197600" y="2387535"/>
            <a:ext cx="5181600" cy="2102842"/>
          </a:xfrm>
          <a:custGeom>
            <a:avLst/>
            <a:gdLst/>
            <a:ahLst/>
            <a:cxnLst/>
            <a:rect l="l" t="t" r="r" b="b"/>
            <a:pathLst>
              <a:path w="5181600" h="2102842">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2F5FD0"/>
          </a:solidFill>
          <a:ln/>
        </p:spPr>
      </p:sp>
      <p:sp>
        <p:nvSpPr>
          <p:cNvPr id="18" name="Text 16"/>
          <p:cNvSpPr/>
          <p:nvPr/>
        </p:nvSpPr>
        <p:spPr>
          <a:xfrm>
            <a:off x="6400800" y="2641535"/>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JetBrains Mono" pitchFamily="49" charset="0"/>
                <a:ea typeface="JetBrains Mono" pitchFamily="49" charset="-122"/>
                <a:cs typeface="JetBrains Mono" pitchFamily="49" charset="-120"/>
              </a:rPr>
              <a:t>// only the JDK</a:t>
            </a:r>
            <a:endParaRPr lang="en-US" sz="1200" dirty="0"/>
          </a:p>
        </p:txBody>
      </p:sp>
      <p:sp>
        <p:nvSpPr>
          <p:cNvPr id="19" name="Text 17"/>
          <p:cNvSpPr/>
          <p:nvPr/>
        </p:nvSpPr>
        <p:spPr>
          <a:xfrm>
            <a:off x="6400800" y="2880255"/>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var json = Json.parse(</a:t>
            </a:r>
            <a:endParaRPr lang="en-US" sz="1200" dirty="0"/>
          </a:p>
        </p:txBody>
      </p:sp>
      <p:sp>
        <p:nvSpPr>
          <p:cNvPr id="20" name="Text 18"/>
          <p:cNvSpPr/>
          <p:nvPr/>
        </p:nvSpPr>
        <p:spPr>
          <a:xfrm>
            <a:off x="6400800" y="3118976"/>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Files.readString(Path.of("config.json")));</a:t>
            </a:r>
            <a:endParaRPr lang="en-US" sz="1200" dirty="0"/>
          </a:p>
        </p:txBody>
      </p:sp>
      <p:sp>
        <p:nvSpPr>
          <p:cNvPr id="21" name="Text 19"/>
          <p:cNvSpPr/>
          <p:nvPr/>
        </p:nvSpPr>
        <p:spPr>
          <a:xfrm>
            <a:off x="6400800" y="3357696"/>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var cs = Charset.forName(</a:t>
            </a:r>
            <a:endParaRPr lang="en-US" sz="1200" dirty="0"/>
          </a:p>
        </p:txBody>
      </p:sp>
      <p:sp>
        <p:nvSpPr>
          <p:cNvPr id="22" name="Text 20"/>
          <p:cNvSpPr/>
          <p:nvPr/>
        </p:nvSpPr>
        <p:spPr>
          <a:xfrm>
            <a:off x="6400800" y="3596416"/>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json.get("charset").asString());</a:t>
            </a:r>
            <a:endParaRPr lang="en-US" sz="1200" dirty="0"/>
          </a:p>
        </p:txBody>
      </p:sp>
      <p:sp>
        <p:nvSpPr>
          <p:cNvPr id="23" name="Text 21"/>
          <p:cNvSpPr/>
          <p:nvPr/>
        </p:nvSpPr>
        <p:spPr>
          <a:xfrm>
            <a:off x="6400800" y="3835136"/>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int port = json.tryGet("port")</a:t>
            </a:r>
            <a:endParaRPr lang="en-US" sz="1200" dirty="0"/>
          </a:p>
        </p:txBody>
      </p:sp>
      <p:sp>
        <p:nvSpPr>
          <p:cNvPr id="24" name="Text 22"/>
          <p:cNvSpPr/>
          <p:nvPr/>
        </p:nvSpPr>
        <p:spPr>
          <a:xfrm>
            <a:off x="6400800" y="4073860"/>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.map(JsonValue::asInt).orElse(8080);</a:t>
            </a:r>
            <a:endParaRPr lang="en-US" sz="1200" dirty="0"/>
          </a:p>
        </p:txBody>
      </p:sp>
      <p:sp>
        <p:nvSpPr>
          <p:cNvPr id="25" name="Text 23"/>
          <p:cNvSpPr/>
          <p:nvPr/>
        </p:nvSpPr>
        <p:spPr>
          <a:xfrm>
            <a:off x="812800" y="49831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Same length — but zero dependencies, and </a:t>
            </a:r>
            <a:r>
              <a:rPr lang="en-US" sz="1400" b="1" dirty="0">
                <a:solidFill>
                  <a:srgbClr val="14213D"/>
                </a:solidFill>
                <a:latin typeface="IBM Plex Sans" pitchFamily="34" charset="0"/>
                <a:ea typeface="IBM Plex Sans" pitchFamily="34" charset="-122"/>
                <a:cs typeface="IBM Plex Sans" pitchFamily="34" charset="-120"/>
              </a:rPr>
              <a:t>"port": "abc"</a:t>
            </a:r>
            <a:r>
              <a:rPr lang="en-US" sz="1400" dirty="0">
                <a:solidFill>
                  <a:srgbClr val="4A5568"/>
                </a:solidFill>
                <a:latin typeface="IBM Plex Sans" pitchFamily="34" charset="0"/>
                <a:ea typeface="IBM Plex Sans" pitchFamily="34" charset="-122"/>
                <a:cs typeface="IBM Plex Sans" pitchFamily="34" charset="-120"/>
              </a:rPr>
              <a:t> fails loudly instead of Jackson's silent </a:t>
            </a:r>
            <a:r>
              <a:rPr lang="en-US" sz="1400" b="1" dirty="0">
                <a:solidFill>
                  <a:srgbClr val="14213D"/>
                </a:solidFill>
                <a:latin typeface="IBM Plex Sans" pitchFamily="34" charset="0"/>
                <a:ea typeface="IBM Plex Sans" pitchFamily="34" charset="-122"/>
                <a:cs typeface="IBM Plex Sans" pitchFamily="34" charset="-120"/>
              </a:rPr>
              <a:t>asInt() → 0</a:t>
            </a:r>
            <a:r>
              <a:rPr lang="en-US" sz="1400" dirty="0">
                <a:solidFill>
                  <a:srgbClr val="4A5568"/>
                </a:solidFill>
                <a:latin typeface="IBM Plex Sans" pitchFamily="34" charset="0"/>
                <a:ea typeface="IBM Plex Sans" pitchFamily="34" charset="-122"/>
                <a:cs typeface="IBM Plex Sans" pitchFamily="34" charset="-120"/>
              </a:rPr>
              <a: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B"/>
                </a:solidFill>
                <a:latin typeface="JetBrains Mono" pitchFamily="49" charset="0"/>
                <a:ea typeface="JetBrains Mono" pitchFamily="49" charset="-122"/>
                <a:cs typeface="JetBrains Mono" pitchFamily="49" charset="-120"/>
              </a:rPr>
              <a:t>BEFORE / NOW · 2 OF 3</a:t>
            </a:r>
            <a:endParaRPr lang="en-US" sz="1200" dirty="0"/>
          </a:p>
        </p:txBody>
      </p:sp>
      <p:sp>
        <p:nvSpPr>
          <p:cNvPr id="3" name="Text 1"/>
          <p:cNvSpPr/>
          <p:nvPr>
            <p:ph type="title"/>
          </p:nvPr>
        </p:nvSpPr>
        <p:spPr>
          <a:xfrm>
            <a:off x="812800" y="12801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Send a JSON body with the built-in HttpClient</a:t>
            </a:r>
            <a:endParaRPr lang="en-US" sz="3600" dirty="0"/>
          </a:p>
        </p:txBody>
      </p:sp>
      <p:sp>
        <p:nvSpPr>
          <p:cNvPr id="4" name="Text 2"/>
          <p:cNvSpPr/>
          <p:nvPr/>
        </p:nvSpPr>
        <p:spPr>
          <a:xfrm>
            <a:off x="812800" y="2037029"/>
            <a:ext cx="533704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4531B"/>
                </a:solidFill>
                <a:latin typeface="IBM Plex Sans" pitchFamily="34" charset="0"/>
                <a:ea typeface="IBM Plex Sans" pitchFamily="34" charset="-122"/>
                <a:cs typeface="IBM Plex Sans" pitchFamily="34" charset="-120"/>
              </a:rPr>
              <a:t>BEFORE · string building (or a library)</a:t>
            </a:r>
            <a:endParaRPr lang="en-US" sz="1400" dirty="0"/>
          </a:p>
        </p:txBody>
      </p:sp>
      <p:sp>
        <p:nvSpPr>
          <p:cNvPr id="5" name="Shape 3"/>
          <p:cNvSpPr/>
          <p:nvPr/>
        </p:nvSpPr>
        <p:spPr>
          <a:xfrm>
            <a:off x="812800" y="2387538"/>
            <a:ext cx="5181600" cy="2316163"/>
          </a:xfrm>
          <a:prstGeom prst="roundRect">
            <a:avLst>
              <a:gd name="adj" fmla="val 4387"/>
            </a:avLst>
          </a:prstGeom>
          <a:solidFill>
            <a:srgbClr val="1B2436"/>
          </a:solidFill>
          <a:ln/>
        </p:spPr>
      </p:sp>
      <p:sp>
        <p:nvSpPr>
          <p:cNvPr id="6" name="Shape 4"/>
          <p:cNvSpPr/>
          <p:nvPr/>
        </p:nvSpPr>
        <p:spPr>
          <a:xfrm>
            <a:off x="812800" y="2387538"/>
            <a:ext cx="5181600" cy="2316163"/>
          </a:xfrm>
          <a:custGeom>
            <a:avLst/>
            <a:gdLst/>
            <a:ahLst/>
            <a:cxnLst/>
            <a:rect l="l" t="t" r="r" b="b"/>
            <a:pathLst>
              <a:path w="5181600" h="2316163">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B4531B"/>
          </a:solidFill>
          <a:ln/>
        </p:spPr>
      </p:sp>
      <p:sp>
        <p:nvSpPr>
          <p:cNvPr id="7" name="Text 5"/>
          <p:cNvSpPr/>
          <p:nvPr/>
        </p:nvSpPr>
        <p:spPr>
          <a:xfrm>
            <a:off x="1016000" y="2641538"/>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JetBrains Mono" pitchFamily="49" charset="0"/>
                <a:ea typeface="JetBrains Mono" pitchFamily="49" charset="-122"/>
                <a:cs typeface="JetBrains Mono" pitchFamily="49" charset="-120"/>
              </a:rPr>
              <a:t>// escaping is your problem</a:t>
            </a:r>
            <a:endParaRPr lang="en-US" sz="1200" dirty="0"/>
          </a:p>
        </p:txBody>
      </p:sp>
      <p:sp>
        <p:nvSpPr>
          <p:cNvPr id="8" name="Text 6"/>
          <p:cNvSpPr/>
          <p:nvPr/>
        </p:nvSpPr>
        <p:spPr>
          <a:xfrm>
            <a:off x="1016000" y="2880258"/>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String body = """</a:t>
            </a:r>
            <a:endParaRPr lang="en-US" sz="1200" dirty="0"/>
          </a:p>
        </p:txBody>
      </p:sp>
      <p:sp>
        <p:nvSpPr>
          <p:cNvPr id="9" name="Text 7"/>
          <p:cNvSpPr/>
          <p:nvPr/>
        </p:nvSpPr>
        <p:spPr>
          <a:xfrm>
            <a:off x="1016000" y="3118979"/>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{"user": "%s",</a:t>
            </a:r>
            <a:endParaRPr lang="en-US" sz="1200" dirty="0"/>
          </a:p>
        </p:txBody>
      </p:sp>
      <p:sp>
        <p:nvSpPr>
          <p:cNvPr id="10" name="Text 8"/>
          <p:cNvSpPr/>
          <p:nvPr/>
        </p:nvSpPr>
        <p:spPr>
          <a:xfrm>
            <a:off x="1016000" y="3357699"/>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"msg": "%s"}</a:t>
            </a:r>
            <a:endParaRPr lang="en-US" sz="1200" dirty="0"/>
          </a:p>
        </p:txBody>
      </p:sp>
      <p:sp>
        <p:nvSpPr>
          <p:cNvPr id="11" name="Text 9"/>
          <p:cNvSpPr/>
          <p:nvPr/>
        </p:nvSpPr>
        <p:spPr>
          <a:xfrm>
            <a:off x="1016000" y="3596419"/>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""".formatted(user, msg);</a:t>
            </a:r>
            <a:endParaRPr lang="en-US" sz="1200" dirty="0"/>
          </a:p>
        </p:txBody>
      </p:sp>
      <p:sp>
        <p:nvSpPr>
          <p:cNvPr id="12" name="Text 10"/>
          <p:cNvSpPr/>
          <p:nvPr/>
        </p:nvSpPr>
        <p:spPr>
          <a:xfrm>
            <a:off x="1016000" y="3835140"/>
            <a:ext cx="4918456" cy="452041"/>
          </a:xfrm>
          <a:prstGeom prst="rect">
            <a:avLst/>
          </a:prstGeom>
          <a:noFill/>
          <a:ln/>
        </p:spPr>
        <p:txBody>
          <a:bodyPr wrap="square" lIns="0" tIns="0" rIns="0" bIns="0" rtlCol="0" anchor="t">
            <a:normAutofit/>
          </a:bodyPr>
          <a:lstStyle/>
          <a:p>
            <a:pPr algn="l" indent="0" marL="0">
              <a:lnSpc>
                <a:spcPts val="1680"/>
              </a:lnSpc>
              <a:buNone/>
            </a:pPr>
            <a:endParaRPr lang="en-US" sz="1200" dirty="0"/>
          </a:p>
          <a:p>
            <a:pPr algn="l" indent="0" marL="0">
              <a:lnSpc>
                <a:spcPts val="1680"/>
              </a:lnSpc>
              <a:buNone/>
            </a:pPr>
            <a:r>
              <a:rPr lang="en-US" sz="1200" dirty="0">
                <a:solidFill>
                  <a:srgbClr val="E07A2F"/>
                </a:solidFill>
                <a:latin typeface="JetBrains Mono" pitchFamily="49" charset="0"/>
                <a:ea typeface="JetBrains Mono" pitchFamily="49" charset="-122"/>
                <a:cs typeface="JetBrains Mono" pitchFamily="49" charset="-120"/>
              </a:rPr>
              <a:t>// msg = He said "hi"</a:t>
            </a:r>
            <a:endParaRPr lang="en-US" sz="1200" dirty="0"/>
          </a:p>
        </p:txBody>
      </p:sp>
      <p:sp>
        <p:nvSpPr>
          <p:cNvPr id="13" name="Text 11"/>
          <p:cNvSpPr/>
          <p:nvPr/>
        </p:nvSpPr>
        <p:spPr>
          <a:xfrm>
            <a:off x="1016000" y="4287180"/>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7A2F"/>
                </a:solidFill>
                <a:latin typeface="JetBrains Mono" pitchFamily="49" charset="0"/>
                <a:ea typeface="JetBrains Mono" pitchFamily="49" charset="-122"/>
                <a:cs typeface="JetBrains Mono" pitchFamily="49" charset="-120"/>
              </a:rPr>
              <a:t>// → broken JSON sent</a:t>
            </a:r>
            <a:endParaRPr lang="en-US" sz="1200" dirty="0"/>
          </a:p>
        </p:txBody>
      </p:sp>
      <p:sp>
        <p:nvSpPr>
          <p:cNvPr id="14" name="Text 12"/>
          <p:cNvSpPr/>
          <p:nvPr/>
        </p:nvSpPr>
        <p:spPr>
          <a:xfrm>
            <a:off x="6197600" y="2037029"/>
            <a:ext cx="5337048"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F5FD0"/>
                </a:solidFill>
                <a:latin typeface="IBM Plex Sans" pitchFamily="34" charset="0"/>
                <a:ea typeface="IBM Plex Sans" pitchFamily="34" charset="-122"/>
                <a:cs typeface="IBM Plex Sans" pitchFamily="34" charset="-120"/>
              </a:rPr>
              <a:t>NOW · a real JSON value</a:t>
            </a:r>
            <a:endParaRPr lang="en-US" sz="1400" dirty="0"/>
          </a:p>
        </p:txBody>
      </p:sp>
      <p:sp>
        <p:nvSpPr>
          <p:cNvPr id="15" name="Shape 13"/>
          <p:cNvSpPr/>
          <p:nvPr/>
        </p:nvSpPr>
        <p:spPr>
          <a:xfrm>
            <a:off x="6197600" y="2387538"/>
            <a:ext cx="5181600" cy="2316163"/>
          </a:xfrm>
          <a:prstGeom prst="roundRect">
            <a:avLst>
              <a:gd name="adj" fmla="val 4387"/>
            </a:avLst>
          </a:prstGeom>
          <a:solidFill>
            <a:srgbClr val="1B2436"/>
          </a:solidFill>
          <a:ln/>
        </p:spPr>
      </p:sp>
      <p:sp>
        <p:nvSpPr>
          <p:cNvPr id="16" name="Shape 14"/>
          <p:cNvSpPr/>
          <p:nvPr/>
        </p:nvSpPr>
        <p:spPr>
          <a:xfrm>
            <a:off x="6197600" y="2387538"/>
            <a:ext cx="5181600" cy="2316163"/>
          </a:xfrm>
          <a:custGeom>
            <a:avLst/>
            <a:gdLst/>
            <a:ahLst/>
            <a:cxnLst/>
            <a:rect l="l" t="t" r="r" b="b"/>
            <a:pathLst>
              <a:path w="5181600" h="2316163">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2F5FD0"/>
          </a:solidFill>
          <a:ln/>
        </p:spPr>
      </p:sp>
      <p:sp>
        <p:nvSpPr>
          <p:cNvPr id="17" name="Text 15"/>
          <p:cNvSpPr/>
          <p:nvPr/>
        </p:nvSpPr>
        <p:spPr>
          <a:xfrm>
            <a:off x="6400800" y="2641538"/>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JetBrains Mono" pitchFamily="49" charset="0"/>
                <a:ea typeface="JetBrains Mono" pitchFamily="49" charset="-122"/>
                <a:cs typeface="JetBrains Mono" pitchFamily="49" charset="-120"/>
              </a:rPr>
              <a:t>// escaping handled for you</a:t>
            </a:r>
            <a:endParaRPr lang="en-US" sz="1200" dirty="0"/>
          </a:p>
        </p:txBody>
      </p:sp>
      <p:sp>
        <p:nvSpPr>
          <p:cNvPr id="18" name="Text 16"/>
          <p:cNvSpPr/>
          <p:nvPr/>
        </p:nvSpPr>
        <p:spPr>
          <a:xfrm>
            <a:off x="6400800" y="2880258"/>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var body = JsonObject.of(Map.of(</a:t>
            </a:r>
            <a:endParaRPr lang="en-US" sz="1200" dirty="0"/>
          </a:p>
        </p:txBody>
      </p:sp>
      <p:sp>
        <p:nvSpPr>
          <p:cNvPr id="19" name="Text 17"/>
          <p:cNvSpPr/>
          <p:nvPr/>
        </p:nvSpPr>
        <p:spPr>
          <a:xfrm>
            <a:off x="6400800" y="3118979"/>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"user", JsonString.of(user),</a:t>
            </a:r>
            <a:endParaRPr lang="en-US" sz="1200" dirty="0"/>
          </a:p>
        </p:txBody>
      </p:sp>
      <p:sp>
        <p:nvSpPr>
          <p:cNvPr id="20" name="Text 18"/>
          <p:cNvSpPr/>
          <p:nvPr/>
        </p:nvSpPr>
        <p:spPr>
          <a:xfrm>
            <a:off x="6400800" y="3357699"/>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"msg",  JsonString.of(msg)));</a:t>
            </a:r>
            <a:endParaRPr lang="en-US" sz="1200" dirty="0"/>
          </a:p>
        </p:txBody>
      </p:sp>
      <p:sp>
        <p:nvSpPr>
          <p:cNvPr id="21" name="Text 19"/>
          <p:cNvSpPr/>
          <p:nvPr/>
        </p:nvSpPr>
        <p:spPr>
          <a:xfrm>
            <a:off x="6400800" y="3596419"/>
            <a:ext cx="4918456" cy="452041"/>
          </a:xfrm>
          <a:prstGeom prst="rect">
            <a:avLst/>
          </a:prstGeom>
          <a:noFill/>
          <a:ln/>
        </p:spPr>
        <p:txBody>
          <a:bodyPr wrap="square" lIns="0" tIns="0" rIns="0" bIns="0" rtlCol="0" anchor="t">
            <a:normAutofit/>
          </a:bodyPr>
          <a:lstStyle/>
          <a:p>
            <a:pPr algn="l" indent="0" marL="0">
              <a:lnSpc>
                <a:spcPts val="1680"/>
              </a:lnSpc>
              <a:buNone/>
            </a:pPr>
            <a:endParaRPr lang="en-US" sz="1200" dirty="0"/>
          </a:p>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HttpRequest.newBuilder(uri)</a:t>
            </a:r>
            <a:endParaRPr lang="en-US" sz="1200" dirty="0"/>
          </a:p>
        </p:txBody>
      </p:sp>
      <p:sp>
        <p:nvSpPr>
          <p:cNvPr id="22" name="Text 20"/>
          <p:cNvSpPr/>
          <p:nvPr/>
        </p:nvSpPr>
        <p:spPr>
          <a:xfrm>
            <a:off x="6400800" y="4048460"/>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.POST(BodyPublishers</a:t>
            </a:r>
            <a:endParaRPr lang="en-US" sz="1200" dirty="0"/>
          </a:p>
        </p:txBody>
      </p:sp>
      <p:sp>
        <p:nvSpPr>
          <p:cNvPr id="23" name="Text 21"/>
          <p:cNvSpPr/>
          <p:nvPr/>
        </p:nvSpPr>
        <p:spPr>
          <a:xfrm>
            <a:off x="6400800" y="4287180"/>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.ofString(body.toString()))</a:t>
            </a:r>
            <a:endParaRPr lang="en-US" sz="1200" dirty="0"/>
          </a:p>
        </p:txBody>
      </p:sp>
      <p:sp>
        <p:nvSpPr>
          <p:cNvPr id="24" name="Text 22"/>
          <p:cNvSpPr/>
          <p:nvPr/>
        </p:nvSpPr>
        <p:spPr>
          <a:xfrm>
            <a:off x="812800" y="49577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HttpClient + JSON, both in the JDK: a working REST client with zero dependencies.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B"/>
                </a:solidFill>
                <a:latin typeface="JetBrains Mono" pitchFamily="49" charset="0"/>
                <a:ea typeface="JetBrains Mono" pitchFamily="49" charset="-122"/>
                <a:cs typeface="JetBrains Mono" pitchFamily="49" charset="-120"/>
              </a:rPr>
              <a:t>BEFORE / NOW · 3 OF 3</a:t>
            </a:r>
            <a:endParaRPr lang="en-US" sz="1200" dirty="0"/>
          </a:p>
        </p:txBody>
      </p:sp>
      <p:sp>
        <p:nvSpPr>
          <p:cNvPr id="3" name="Text 1"/>
          <p:cNvSpPr/>
          <p:nvPr>
            <p:ph type="title"/>
          </p:nvPr>
        </p:nvSpPr>
        <p:spPr>
          <a:xfrm>
            <a:off x="812800" y="1280120"/>
            <a:ext cx="10883392" cy="103121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A one-off question: average temperature this week</a:t>
            </a:r>
            <a:endParaRPr lang="en-US" sz="3600" dirty="0"/>
          </a:p>
        </p:txBody>
      </p:sp>
      <p:sp>
        <p:nvSpPr>
          <p:cNvPr id="4" name="Shape 2"/>
          <p:cNvSpPr/>
          <p:nvPr/>
        </p:nvSpPr>
        <p:spPr>
          <a:xfrm>
            <a:off x="812800" y="2539938"/>
            <a:ext cx="6360187" cy="2816622"/>
          </a:xfrm>
          <a:prstGeom prst="roundRect">
            <a:avLst>
              <a:gd name="adj" fmla="val 3607"/>
            </a:avLst>
          </a:prstGeom>
          <a:solidFill>
            <a:srgbClr val="1B2436"/>
          </a:solidFill>
          <a:ln/>
        </p:spPr>
      </p:sp>
      <p:sp>
        <p:nvSpPr>
          <p:cNvPr id="5" name="Shape 3"/>
          <p:cNvSpPr/>
          <p:nvPr/>
        </p:nvSpPr>
        <p:spPr>
          <a:xfrm>
            <a:off x="812800" y="2539938"/>
            <a:ext cx="6360187" cy="2816622"/>
          </a:xfrm>
          <a:custGeom>
            <a:avLst/>
            <a:gdLst/>
            <a:ahLst/>
            <a:cxnLst/>
            <a:rect l="l" t="t" r="r" b="b"/>
            <a:pathLst>
              <a:path w="6360187" h="2816622">
                <a:moveTo>
                  <a:pt x="0" y="101600"/>
                </a:moveTo>
                <a:lnTo>
                  <a:pt x="0" y="101600"/>
                </a:lnTo>
                <a:arcTo hR="101600" wR="101600" stAng="10800000" swAng="5400000"/>
                <a:lnTo>
                  <a:pt x="6258587" y="0"/>
                </a:lnTo>
                <a:arcTo hR="101600" wR="101600" stAng="16200000" swAng="5400000"/>
                <a:lnTo>
                  <a:pt x="6360187" y="101600"/>
                </a:lnTo>
                <a:arcTo hR="50800" wR="101600" stAng="0" swAng="-5400000"/>
                <a:lnTo>
                  <a:pt x="101600" y="50800"/>
                </a:lnTo>
                <a:arcTo hR="50800" wR="101600" stAng="16200000" swAng="-5400000"/>
                <a:close/>
              </a:path>
            </a:pathLst>
          </a:custGeom>
          <a:solidFill>
            <a:srgbClr val="2F5FD0"/>
          </a:solidFill>
          <a:ln/>
        </p:spPr>
      </p:sp>
      <p:sp>
        <p:nvSpPr>
          <p:cNvPr id="6" name="Text 4"/>
          <p:cNvSpPr/>
          <p:nvPr/>
        </p:nvSpPr>
        <p:spPr>
          <a:xfrm>
            <a:off x="1066800" y="2844738"/>
            <a:ext cx="602775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FA3BF"/>
                </a:solidFill>
                <a:latin typeface="JetBrains Mono" pitchFamily="49" charset="0"/>
                <a:ea typeface="JetBrains Mono" pitchFamily="49" charset="-122"/>
                <a:cs typeface="JetBrains Mono" pitchFamily="49" charset="-120"/>
              </a:rPr>
              <a:t>// Weather.java — run it directly, no build</a:t>
            </a:r>
            <a:endParaRPr lang="en-US" sz="1300" dirty="0"/>
          </a:p>
        </p:txBody>
      </p:sp>
      <p:sp>
        <p:nvSpPr>
          <p:cNvPr id="7" name="Text 5"/>
          <p:cNvSpPr/>
          <p:nvPr/>
        </p:nvSpPr>
        <p:spPr>
          <a:xfrm>
            <a:off x="1066800" y="3101249"/>
            <a:ext cx="602775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EAF0"/>
                </a:solidFill>
                <a:latin typeface="JetBrains Mono" pitchFamily="49" charset="0"/>
                <a:ea typeface="JetBrains Mono" pitchFamily="49" charset="-122"/>
                <a:cs typeface="JetBrains Mono" pitchFamily="49" charset="-120"/>
              </a:rPr>
              <a:t>var json = Json.parse(response.body());</a:t>
            </a:r>
            <a:endParaRPr lang="en-US" sz="1300" dirty="0"/>
          </a:p>
        </p:txBody>
      </p:sp>
      <p:sp>
        <p:nvSpPr>
          <p:cNvPr id="8" name="Text 6"/>
          <p:cNvSpPr/>
          <p:nvPr/>
        </p:nvSpPr>
        <p:spPr>
          <a:xfrm>
            <a:off x="1066800" y="3357761"/>
            <a:ext cx="602775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EAF0"/>
                </a:solidFill>
                <a:latin typeface="JetBrains Mono" pitchFamily="49" charset="0"/>
                <a:ea typeface="JetBrains Mono" pitchFamily="49" charset="-122"/>
                <a:cs typeface="JetBrains Mono" pitchFamily="49" charset="-120"/>
              </a:rPr>
              <a:t>json.get("properties").get("periods")</a:t>
            </a:r>
            <a:endParaRPr lang="en-US" sz="1300" dirty="0"/>
          </a:p>
        </p:txBody>
      </p:sp>
      <p:sp>
        <p:nvSpPr>
          <p:cNvPr id="9" name="Text 7"/>
          <p:cNvSpPr/>
          <p:nvPr/>
        </p:nvSpPr>
        <p:spPr>
          <a:xfrm>
            <a:off x="1066800" y="3614279"/>
            <a:ext cx="602775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EAF0"/>
                </a:solidFill>
                <a:latin typeface="JetBrains Mono" pitchFamily="49" charset="0"/>
                <a:ea typeface="JetBrains Mono" pitchFamily="49" charset="-122"/>
                <a:cs typeface="JetBrains Mono" pitchFamily="49" charset="-120"/>
              </a:rPr>
              <a:t>    .asList().stream()</a:t>
            </a:r>
            <a:endParaRPr lang="en-US" sz="1300" dirty="0"/>
          </a:p>
        </p:txBody>
      </p:sp>
      <p:sp>
        <p:nvSpPr>
          <p:cNvPr id="10" name="Text 8"/>
          <p:cNvSpPr/>
          <p:nvPr/>
        </p:nvSpPr>
        <p:spPr>
          <a:xfrm>
            <a:off x="1066800" y="3870790"/>
            <a:ext cx="602775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EAF0"/>
                </a:solidFill>
                <a:latin typeface="JetBrains Mono" pitchFamily="49" charset="0"/>
                <a:ea typeface="JetBrains Mono" pitchFamily="49" charset="-122"/>
                <a:cs typeface="JetBrains Mono" pitchFamily="49" charset="-120"/>
              </a:rPr>
              <a:t>    .mapToInt(p -&gt; p.get("temperature").asInt())</a:t>
            </a:r>
            <a:endParaRPr lang="en-US" sz="1300" dirty="0"/>
          </a:p>
        </p:txBody>
      </p:sp>
      <p:sp>
        <p:nvSpPr>
          <p:cNvPr id="11" name="Text 9"/>
          <p:cNvSpPr/>
          <p:nvPr/>
        </p:nvSpPr>
        <p:spPr>
          <a:xfrm>
            <a:off x="1066800" y="4127302"/>
            <a:ext cx="602775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EAF0"/>
                </a:solidFill>
                <a:latin typeface="JetBrains Mono" pitchFamily="49" charset="0"/>
                <a:ea typeface="JetBrains Mono" pitchFamily="49" charset="-122"/>
                <a:cs typeface="JetBrains Mono" pitchFamily="49" charset="-120"/>
              </a:rPr>
              <a:t>    .average()</a:t>
            </a:r>
            <a:endParaRPr lang="en-US" sz="1300" dirty="0"/>
          </a:p>
        </p:txBody>
      </p:sp>
      <p:sp>
        <p:nvSpPr>
          <p:cNvPr id="12" name="Text 10"/>
          <p:cNvSpPr/>
          <p:nvPr/>
        </p:nvSpPr>
        <p:spPr>
          <a:xfrm>
            <a:off x="1066800" y="4383819"/>
            <a:ext cx="602775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8EAF0"/>
                </a:solidFill>
                <a:latin typeface="JetBrains Mono" pitchFamily="49" charset="0"/>
                <a:ea typeface="JetBrains Mono" pitchFamily="49" charset="-122"/>
                <a:cs typeface="JetBrains Mono" pitchFamily="49" charset="-120"/>
              </a:rPr>
              <a:t>    .ifPresent(IO::println);</a:t>
            </a:r>
            <a:endParaRPr lang="en-US" sz="1300" dirty="0"/>
          </a:p>
        </p:txBody>
      </p:sp>
      <p:sp>
        <p:nvSpPr>
          <p:cNvPr id="13" name="Text 11"/>
          <p:cNvSpPr/>
          <p:nvPr/>
        </p:nvSpPr>
        <p:spPr>
          <a:xfrm>
            <a:off x="1066800" y="4640331"/>
            <a:ext cx="6027752" cy="487627"/>
          </a:xfrm>
          <a:prstGeom prst="rect">
            <a:avLst/>
          </a:prstGeom>
          <a:noFill/>
          <a:ln/>
        </p:spPr>
        <p:txBody>
          <a:bodyPr wrap="square" lIns="0" tIns="0" rIns="0" bIns="0" rtlCol="0" anchor="t">
            <a:normAutofit/>
          </a:bodyPr>
          <a:lstStyle/>
          <a:p>
            <a:pPr algn="l" indent="0" marL="0">
              <a:lnSpc>
                <a:spcPts val="1820"/>
              </a:lnSpc>
              <a:buNone/>
            </a:pPr>
            <a:endParaRPr lang="en-US" sz="1300" dirty="0"/>
          </a:p>
          <a:p>
            <a:pPr algn="l" indent="0" marL="0">
              <a:lnSpc>
                <a:spcPts val="1820"/>
              </a:lnSpc>
              <a:buNone/>
            </a:pPr>
            <a:r>
              <a:rPr lang="en-US" sz="1300" dirty="0">
                <a:solidFill>
                  <a:srgbClr val="8FA3BF"/>
                </a:solidFill>
                <a:latin typeface="JetBrains Mono" pitchFamily="49" charset="0"/>
                <a:ea typeface="JetBrains Mono" pitchFamily="49" charset="-122"/>
                <a:cs typeface="JetBrains Mono" pitchFamily="49" charset="-120"/>
              </a:rPr>
              <a:t>$ java --add-modules jdk.incubator.json Weather.java</a:t>
            </a:r>
            <a:endParaRPr lang="en-US" sz="1300" dirty="0"/>
          </a:p>
        </p:txBody>
      </p:sp>
      <p:sp>
        <p:nvSpPr>
          <p:cNvPr id="14" name="Shape 12"/>
          <p:cNvSpPr/>
          <p:nvPr/>
        </p:nvSpPr>
        <p:spPr>
          <a:xfrm>
            <a:off x="7480962" y="2543113"/>
            <a:ext cx="3895064" cy="1188244"/>
          </a:xfrm>
          <a:prstGeom prst="roundRect">
            <a:avLst>
              <a:gd name="adj" fmla="val 8283"/>
            </a:avLst>
          </a:prstGeom>
          <a:solidFill>
            <a:srgbClr val="FFFFFF"/>
          </a:solidFill>
          <a:ln w="6350">
            <a:solidFill>
              <a:srgbClr val="DDD9CE"/>
            </a:solidFill>
            <a:prstDash val="solid"/>
          </a:ln>
        </p:spPr>
      </p:sp>
      <p:sp>
        <p:nvSpPr>
          <p:cNvPr id="15" name="Text 13"/>
          <p:cNvSpPr/>
          <p:nvPr/>
        </p:nvSpPr>
        <p:spPr>
          <a:xfrm>
            <a:off x="7685220" y="2747367"/>
            <a:ext cx="3591143"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31B"/>
                </a:solidFill>
                <a:latin typeface="IBM Plex Sans" pitchFamily="34" charset="0"/>
                <a:ea typeface="IBM Plex Sans" pitchFamily="34" charset="-122"/>
                <a:cs typeface="IBM Plex Sans" pitchFamily="34" charset="-120"/>
              </a:rPr>
              <a:t>BEFORE</a:t>
            </a:r>
            <a:endParaRPr lang="en-US" sz="1300" dirty="0"/>
          </a:p>
        </p:txBody>
      </p:sp>
      <p:sp>
        <p:nvSpPr>
          <p:cNvPr id="16" name="Text 14"/>
          <p:cNvSpPr/>
          <p:nvPr/>
        </p:nvSpPr>
        <p:spPr>
          <a:xfrm>
            <a:off x="7685220" y="3029285"/>
            <a:ext cx="3591143"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New Maven project, add Jackson, build a jar — or give up and use Python.</a:t>
            </a:r>
            <a:endParaRPr lang="en-US" sz="1400" dirty="0"/>
          </a:p>
        </p:txBody>
      </p:sp>
      <p:sp>
        <p:nvSpPr>
          <p:cNvPr id="17" name="Shape 15"/>
          <p:cNvSpPr/>
          <p:nvPr/>
        </p:nvSpPr>
        <p:spPr>
          <a:xfrm>
            <a:off x="7480962" y="3890107"/>
            <a:ext cx="3895064" cy="1188244"/>
          </a:xfrm>
          <a:prstGeom prst="roundRect">
            <a:avLst>
              <a:gd name="adj" fmla="val 8283"/>
            </a:avLst>
          </a:prstGeom>
          <a:solidFill>
            <a:srgbClr val="FFFFFF"/>
          </a:solidFill>
          <a:ln w="6350">
            <a:solidFill>
              <a:srgbClr val="DDD9CE"/>
            </a:solidFill>
            <a:prstDash val="solid"/>
          </a:ln>
        </p:spPr>
      </p:sp>
      <p:sp>
        <p:nvSpPr>
          <p:cNvPr id="18" name="Text 16"/>
          <p:cNvSpPr/>
          <p:nvPr/>
        </p:nvSpPr>
        <p:spPr>
          <a:xfrm>
            <a:off x="7685220" y="4094361"/>
            <a:ext cx="3591143"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5FD0"/>
                </a:solidFill>
                <a:latin typeface="IBM Plex Sans" pitchFamily="34" charset="0"/>
                <a:ea typeface="IBM Plex Sans" pitchFamily="34" charset="-122"/>
                <a:cs typeface="IBM Plex Sans" pitchFamily="34" charset="-120"/>
              </a:rPr>
              <a:t>NOW</a:t>
            </a:r>
            <a:endParaRPr lang="en-US" sz="1300" dirty="0"/>
          </a:p>
        </p:txBody>
      </p:sp>
      <p:sp>
        <p:nvSpPr>
          <p:cNvPr id="19" name="Text 17"/>
          <p:cNvSpPr/>
          <p:nvPr/>
        </p:nvSpPr>
        <p:spPr>
          <a:xfrm>
            <a:off x="7685220" y="4376279"/>
            <a:ext cx="3591143"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One .java file, a few lines, run it. Works in JShell too.</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EBE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B"/>
                </a:solidFill>
                <a:latin typeface="JetBrains Mono" pitchFamily="49" charset="0"/>
                <a:ea typeface="JetBrains Mono" pitchFamily="49" charset="-122"/>
                <a:cs typeface="JetBrains Mono" pitchFamily="49" charset="-120"/>
              </a:rPr>
              <a:t>DESIGN CHOICES</a:t>
            </a:r>
            <a:endParaRPr lang="en-US" sz="1200" dirty="0"/>
          </a:p>
        </p:txBody>
      </p:sp>
      <p:sp>
        <p:nvSpPr>
          <p:cNvPr id="3" name="Text 1"/>
          <p:cNvSpPr/>
          <p:nvPr>
            <p:ph type="title"/>
          </p:nvPr>
        </p:nvSpPr>
        <p:spPr>
          <a:xfrm>
            <a:off x="812800" y="1280120"/>
            <a:ext cx="10883392" cy="1031214"/>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Strict by design: the same JSON means the same thing</a:t>
            </a:r>
            <a:endParaRPr lang="en-US" sz="3600" dirty="0"/>
          </a:p>
        </p:txBody>
      </p:sp>
      <p:sp>
        <p:nvSpPr>
          <p:cNvPr id="4" name="Shape 2"/>
          <p:cNvSpPr/>
          <p:nvPr/>
        </p:nvSpPr>
        <p:spPr>
          <a:xfrm>
            <a:off x="812800" y="2539938"/>
            <a:ext cx="4953000" cy="817827"/>
          </a:xfrm>
          <a:prstGeom prst="roundRect">
            <a:avLst>
              <a:gd name="adj" fmla="val 12423"/>
            </a:avLst>
          </a:prstGeom>
          <a:solidFill>
            <a:srgbClr val="FFFFFF"/>
          </a:solidFill>
          <a:ln/>
        </p:spPr>
      </p:sp>
      <p:sp>
        <p:nvSpPr>
          <p:cNvPr id="5" name="Text 3"/>
          <p:cNvSpPr/>
          <p:nvPr/>
        </p:nvSpPr>
        <p:spPr>
          <a:xfrm>
            <a:off x="1016000" y="2692338"/>
            <a:ext cx="468299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RFC 8259 only</a:t>
            </a:r>
            <a:endParaRPr lang="en-US" sz="1600" dirty="0"/>
          </a:p>
        </p:txBody>
      </p:sp>
      <p:sp>
        <p:nvSpPr>
          <p:cNvPr id="6" name="Text 4"/>
          <p:cNvSpPr/>
          <p:nvPr/>
        </p:nvSpPr>
        <p:spPr>
          <a:xfrm>
            <a:off x="1016000" y="2974249"/>
            <a:ext cx="468299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No comments, trailing commas or duplicate keys.</a:t>
            </a:r>
            <a:endParaRPr lang="en-US" sz="1300" dirty="0"/>
          </a:p>
        </p:txBody>
      </p:sp>
      <p:sp>
        <p:nvSpPr>
          <p:cNvPr id="7" name="Shape 5"/>
          <p:cNvSpPr/>
          <p:nvPr/>
        </p:nvSpPr>
        <p:spPr>
          <a:xfrm>
            <a:off x="812800" y="3459361"/>
            <a:ext cx="4953000" cy="817827"/>
          </a:xfrm>
          <a:prstGeom prst="roundRect">
            <a:avLst>
              <a:gd name="adj" fmla="val 12423"/>
            </a:avLst>
          </a:prstGeom>
          <a:solidFill>
            <a:srgbClr val="FFFFFF"/>
          </a:solidFill>
          <a:ln/>
        </p:spPr>
      </p:sp>
      <p:sp>
        <p:nvSpPr>
          <p:cNvPr id="8" name="Text 6"/>
          <p:cNvSpPr/>
          <p:nvPr/>
        </p:nvSpPr>
        <p:spPr>
          <a:xfrm>
            <a:off x="1016000" y="3611761"/>
            <a:ext cx="468299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No silent coercion</a:t>
            </a:r>
            <a:endParaRPr lang="en-US" sz="1600" dirty="0"/>
          </a:p>
        </p:txBody>
      </p:sp>
      <p:sp>
        <p:nvSpPr>
          <p:cNvPr id="9" name="Text 7"/>
          <p:cNvSpPr/>
          <p:nvPr/>
        </p:nvSpPr>
        <p:spPr>
          <a:xfrm>
            <a:off x="1016000" y="3893679"/>
            <a:ext cx="468299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asString() on a number throws. No guessing.</a:t>
            </a:r>
            <a:endParaRPr lang="en-US" sz="1300" dirty="0"/>
          </a:p>
        </p:txBody>
      </p:sp>
      <p:sp>
        <p:nvSpPr>
          <p:cNvPr id="10" name="Shape 8"/>
          <p:cNvSpPr/>
          <p:nvPr/>
        </p:nvSpPr>
        <p:spPr>
          <a:xfrm>
            <a:off x="812800" y="4378790"/>
            <a:ext cx="4953000" cy="817827"/>
          </a:xfrm>
          <a:prstGeom prst="roundRect">
            <a:avLst>
              <a:gd name="adj" fmla="val 12423"/>
            </a:avLst>
          </a:prstGeom>
          <a:solidFill>
            <a:srgbClr val="FFFFFF"/>
          </a:solidFill>
          <a:ln/>
        </p:spPr>
      </p:sp>
      <p:sp>
        <p:nvSpPr>
          <p:cNvPr id="11" name="Text 9"/>
          <p:cNvSpPr/>
          <p:nvPr/>
        </p:nvSpPr>
        <p:spPr>
          <a:xfrm>
            <a:off x="1016000" y="4531190"/>
            <a:ext cx="4682998"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Fail fast, with the path</a:t>
            </a:r>
            <a:endParaRPr lang="en-US" sz="1600" dirty="0"/>
          </a:p>
        </p:txBody>
      </p:sp>
      <p:sp>
        <p:nvSpPr>
          <p:cNvPr id="12" name="Text 10"/>
          <p:cNvSpPr/>
          <p:nvPr/>
        </p:nvSpPr>
        <p:spPr>
          <a:xfrm>
            <a:off x="1016000" y="4813102"/>
            <a:ext cx="468299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Errors name the missing key, the path and the offset.</a:t>
            </a:r>
            <a:endParaRPr lang="en-US" sz="1300" dirty="0"/>
          </a:p>
        </p:txBody>
      </p:sp>
      <p:sp>
        <p:nvSpPr>
          <p:cNvPr id="13" name="Shape 11"/>
          <p:cNvSpPr/>
          <p:nvPr/>
        </p:nvSpPr>
        <p:spPr>
          <a:xfrm>
            <a:off x="5969000" y="2539938"/>
            <a:ext cx="5410200" cy="3032323"/>
          </a:xfrm>
          <a:prstGeom prst="roundRect">
            <a:avLst>
              <a:gd name="adj" fmla="val 3351"/>
            </a:avLst>
          </a:prstGeom>
          <a:solidFill>
            <a:srgbClr val="1B2436"/>
          </a:solidFill>
          <a:ln/>
        </p:spPr>
      </p:sp>
      <p:sp>
        <p:nvSpPr>
          <p:cNvPr id="14" name="Text 12"/>
          <p:cNvSpPr/>
          <p:nvPr/>
        </p:nvSpPr>
        <p:spPr>
          <a:xfrm>
            <a:off x="6197600" y="2768538"/>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JetBrains Mono" pitchFamily="49" charset="0"/>
                <a:ea typeface="JetBrains Mono" pitchFamily="49" charset="-122"/>
                <a:cs typeface="JetBrains Mono" pitchFamily="49" charset="-120"/>
              </a:rPr>
              <a:t>// old ids were "42", new ones 42</a:t>
            </a:r>
            <a:endParaRPr lang="en-US" sz="1200" dirty="0"/>
          </a:p>
        </p:txBody>
      </p:sp>
      <p:sp>
        <p:nvSpPr>
          <p:cNvPr id="15" name="Text 13"/>
          <p:cNvSpPr/>
          <p:nvPr/>
        </p:nvSpPr>
        <p:spPr>
          <a:xfrm>
            <a:off x="6197600" y="3007258"/>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long id = switch (v) {</a:t>
            </a:r>
            <a:endParaRPr lang="en-US" sz="1200" dirty="0"/>
          </a:p>
        </p:txBody>
      </p:sp>
      <p:sp>
        <p:nvSpPr>
          <p:cNvPr id="16" name="Text 14"/>
          <p:cNvSpPr/>
          <p:nvPr/>
        </p:nvSpPr>
        <p:spPr>
          <a:xfrm>
            <a:off x="6197600" y="3245979"/>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case JsonNumber n -&gt;</a:t>
            </a:r>
            <a:endParaRPr lang="en-US" sz="1200" dirty="0"/>
          </a:p>
        </p:txBody>
      </p:sp>
      <p:sp>
        <p:nvSpPr>
          <p:cNvPr id="17" name="Text 15"/>
          <p:cNvSpPr/>
          <p:nvPr/>
        </p:nvSpPr>
        <p:spPr>
          <a:xfrm>
            <a:off x="6197600" y="3484699"/>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n.asLong();</a:t>
            </a:r>
            <a:endParaRPr lang="en-US" sz="1200" dirty="0"/>
          </a:p>
        </p:txBody>
      </p:sp>
      <p:sp>
        <p:nvSpPr>
          <p:cNvPr id="18" name="Text 16"/>
          <p:cNvSpPr/>
          <p:nvPr/>
        </p:nvSpPr>
        <p:spPr>
          <a:xfrm>
            <a:off x="6197600" y="3723419"/>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case JsonString s -&gt;</a:t>
            </a:r>
            <a:endParaRPr lang="en-US" sz="1200" dirty="0"/>
          </a:p>
        </p:txBody>
      </p:sp>
      <p:sp>
        <p:nvSpPr>
          <p:cNvPr id="19" name="Text 17"/>
          <p:cNvSpPr/>
          <p:nvPr/>
        </p:nvSpPr>
        <p:spPr>
          <a:xfrm>
            <a:off x="6197600" y="3962140"/>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Long.parseLong(s.asString());</a:t>
            </a:r>
            <a:endParaRPr lang="en-US" sz="1200" dirty="0"/>
          </a:p>
        </p:txBody>
      </p:sp>
      <p:sp>
        <p:nvSpPr>
          <p:cNvPr id="20" name="Text 18"/>
          <p:cNvSpPr/>
          <p:nvPr/>
        </p:nvSpPr>
        <p:spPr>
          <a:xfrm>
            <a:off x="6197600" y="4200860"/>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default -&gt; throw new</a:t>
            </a:r>
            <a:endParaRPr lang="en-US" sz="1200" dirty="0"/>
          </a:p>
        </p:txBody>
      </p:sp>
      <p:sp>
        <p:nvSpPr>
          <p:cNvPr id="21" name="Text 19"/>
          <p:cNvSpPr/>
          <p:nvPr/>
        </p:nvSpPr>
        <p:spPr>
          <a:xfrm>
            <a:off x="6197600" y="4439580"/>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IllegalArgumentException("bad id");</a:t>
            </a:r>
            <a:endParaRPr lang="en-US" sz="1200" dirty="0"/>
          </a:p>
        </p:txBody>
      </p:sp>
      <p:sp>
        <p:nvSpPr>
          <p:cNvPr id="22" name="Text 20"/>
          <p:cNvSpPr/>
          <p:nvPr/>
        </p:nvSpPr>
        <p:spPr>
          <a:xfrm>
            <a:off x="6197600" y="4678300"/>
            <a:ext cx="51015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a:t>
            </a:r>
            <a:endParaRPr lang="en-US" sz="1200" dirty="0"/>
          </a:p>
        </p:txBody>
      </p:sp>
      <p:sp>
        <p:nvSpPr>
          <p:cNvPr id="23" name="Text 21"/>
          <p:cNvSpPr/>
          <p:nvPr/>
        </p:nvSpPr>
        <p:spPr>
          <a:xfrm>
            <a:off x="6197600" y="4917021"/>
            <a:ext cx="5101590" cy="452041"/>
          </a:xfrm>
          <a:prstGeom prst="rect">
            <a:avLst/>
          </a:prstGeom>
          <a:noFill/>
          <a:ln/>
        </p:spPr>
        <p:txBody>
          <a:bodyPr wrap="square" lIns="0" tIns="0" rIns="0" bIns="0" rtlCol="0" anchor="t">
            <a:normAutofit/>
          </a:bodyPr>
          <a:lstStyle/>
          <a:p>
            <a:pPr algn="l" indent="0" marL="0">
              <a:lnSpc>
                <a:spcPts val="1680"/>
              </a:lnSpc>
              <a:buNone/>
            </a:pPr>
            <a:endParaRPr lang="en-US" sz="1200" dirty="0"/>
          </a:p>
          <a:p>
            <a:pPr algn="l" indent="0" marL="0">
              <a:lnSpc>
                <a:spcPts val="1680"/>
              </a:lnSpc>
              <a:buNone/>
            </a:pPr>
            <a:r>
              <a:rPr lang="en-US" sz="1200" dirty="0">
                <a:solidFill>
                  <a:srgbClr val="8FA3BF"/>
                </a:solidFill>
                <a:latin typeface="JetBrains Mono" pitchFamily="49" charset="0"/>
                <a:ea typeface="JetBrains Mono" pitchFamily="49" charset="-122"/>
                <a:cs typeface="JetBrains Mono" pitchFamily="49" charset="-120"/>
              </a:rPr>
              <a:t>// sealed types = modern Java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B"/>
                </a:solidFill>
                <a:latin typeface="JetBrains Mono" pitchFamily="49" charset="0"/>
                <a:ea typeface="JetBrains Mono" pitchFamily="49" charset="-122"/>
                <a:cs typeface="JetBrains Mono" pitchFamily="49" charset="-120"/>
              </a:rPr>
              <a:t>WHAT IT MEANS FOR US</a:t>
            </a:r>
            <a:endParaRPr lang="en-US" sz="1200" dirty="0"/>
          </a:p>
        </p:txBody>
      </p:sp>
      <p:sp>
        <p:nvSpPr>
          <p:cNvPr id="3" name="Text 1"/>
          <p:cNvSpPr/>
          <p:nvPr>
            <p:ph type="title"/>
          </p:nvPr>
        </p:nvSpPr>
        <p:spPr>
          <a:xfrm>
            <a:off x="812800" y="12801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We run Java 21 and 25. What changes?</a:t>
            </a:r>
            <a:endParaRPr lang="en-US" sz="3600" dirty="0"/>
          </a:p>
        </p:txBody>
      </p:sp>
      <p:sp>
        <p:nvSpPr>
          <p:cNvPr id="4" name="Shape 2"/>
          <p:cNvSpPr/>
          <p:nvPr/>
        </p:nvSpPr>
        <p:spPr>
          <a:xfrm>
            <a:off x="812800" y="2043379"/>
            <a:ext cx="10566400" cy="0"/>
          </a:xfrm>
          <a:prstGeom prst="line">
            <a:avLst/>
          </a:prstGeom>
          <a:noFill/>
          <a:ln w="12700">
            <a:solidFill>
              <a:srgbClr val="141413">
                <a:alpha val="22000"/>
              </a:srgbClr>
            </a:solidFill>
            <a:prstDash val="solid"/>
          </a:ln>
        </p:spPr>
      </p:sp>
      <p:sp>
        <p:nvSpPr>
          <p:cNvPr id="5" name="Shape 3"/>
          <p:cNvSpPr/>
          <p:nvPr/>
        </p:nvSpPr>
        <p:spPr>
          <a:xfrm>
            <a:off x="819150" y="2037029"/>
            <a:ext cx="0" cy="2445412"/>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77900" y="2176729"/>
          <a:ext cx="10248900" cy="2178711"/>
        </p:xfrm>
        <a:graphic>
          <a:graphicData uri="http://schemas.openxmlformats.org/drawingml/2006/table">
            <a:tbl>
              <a:tblPr/>
              <a:tblGrid>
                <a:gridCol w="2254758"/>
                <a:gridCol w="1947291"/>
                <a:gridCol w="1947291"/>
                <a:gridCol w="2049780"/>
                <a:gridCol w="2049780"/>
              </a:tblGrid>
              <a:tr h="634868">
                <a:tc>
                  <a:txBody>
                    <a:bodyPr/>
                    <a:lstStyle/>
                    <a:p>
                      <a:pP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Java 21 LTS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Java 25 LTS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E07A2F"/>
                          </a:solidFill>
                          <a:latin typeface="IBM Plex Sans" pitchFamily="34" charset="0"/>
                          <a:ea typeface="IBM Plex Sans" pitchFamily="34" charset="-122"/>
                          <a:cs typeface="IBM Plex Sans" pitchFamily="34" charset="-120"/>
                        </a:rPr>
                        <a:t>JDK 28 · Mar 2027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7F6F2"/>
                          </a:solidFill>
                          <a:latin typeface="IBM Plex Sans" pitchFamily="34" charset="0"/>
                          <a:ea typeface="IBM Plex Sans" pitchFamily="34" charset="-122"/>
                          <a:cs typeface="IBM Plex Sans" pitchFamily="34" charset="-120"/>
                        </a:rPr>
                        <a:t>JDK 29 LTS · Sep 2027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0" cap="flat" cmpd="sng" algn="ctr">
                      <a:noFill/>
                    </a:lnT>
                    <a:lnB w="12700" cap="flat" cmpd="sng" algn="ctr">
                      <a:solidFill>
                        <a:srgbClr val="141E34"/>
                      </a:solidFill>
                      <a:prstDash val="solid"/>
                      <a:round/>
                      <a:headEnd type="none" w="med" len="med"/>
                      <a:tailEnd type="none" w="med" len="med"/>
                    </a:lnB>
                    <a:solidFill>
                      <a:srgbClr val="14213D"/>
                    </a:solidFill>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JSON in the JDK?</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Yes, opt-in flag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Depends on progress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Production use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Keep Jackson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Keep Jackson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Not yet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Only once Final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Our existing code</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Unchanged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Unchanged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Unchanged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Unchanged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What we do</a:t>
                      </a:r>
                      <a:endParaRPr lang="en-US" sz="1400" dirty="0">
                        <a:latin typeface="IBM Plex Sans" charset="0"/>
                        <a:ea typeface="IBM Plex Sans" charset="0"/>
                        <a:cs typeface="IBM Plex Sans" charset="0"/>
                      </a:endParaRPr>
                    </a:p>
                  </a:txBody>
                  <a:tcPr marL="62230" marR="62230" marT="62230" marB="62230" anchor="t">
                    <a:lnL w="0" cap="flat" cmpd="sng" algn="ctr">
                      <a:noFill/>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Nothing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Nothing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Try it, give feedback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Re-evaluate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5C4C1"/>
                      </a:solidFill>
                      <a:prstDash val="solid"/>
                      <a:round/>
                      <a:headEnd type="none" w="med" len="med"/>
                      <a:tailEnd type="none" w="med" len="med"/>
                    </a:lnB>
                    <a:solidFill>
                      <a:srgbClr val="F7F6F2"/>
                    </a:solidFill>
                  </a:tcPr>
                </a:tc>
              </a:tr>
            </a:tbl>
          </a:graphicData>
        </a:graphic>
      </p:graphicFrame>
      <p:sp>
        <p:nvSpPr>
          <p:cNvPr id="7" name="Text 4"/>
          <p:cNvSpPr/>
          <p:nvPr/>
        </p:nvSpPr>
        <p:spPr>
          <a:xfrm>
            <a:off x="812800" y="4736443"/>
            <a:ext cx="10464800"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2F5FD0"/>
                </a:solidFill>
                <a:latin typeface="IBM Plex Sans" pitchFamily="34" charset="0"/>
                <a:ea typeface="IBM Plex Sans" pitchFamily="34" charset="-122"/>
                <a:cs typeface="IBM Plex Sans" pitchFamily="34" charset="-120"/>
              </a:rPr>
              <a:t>Zero risk today:</a:t>
            </a:r>
            <a:r>
              <a:rPr lang="en-US" sz="1500" dirty="0">
                <a:solidFill>
                  <a:srgbClr val="4A5568"/>
                </a:solidFill>
                <a:latin typeface="IBM Plex Sans" pitchFamily="34" charset="0"/>
                <a:ea typeface="IBM Plex Sans" pitchFamily="34" charset="-122"/>
                <a:cs typeface="IBM Plex Sans" pitchFamily="34" charset="-120"/>
              </a:rPr>
              <a:t> nothing breaks, nothing to migrate. The opportunity is to </a:t>
            </a:r>
            <a:r>
              <a:rPr lang="en-US" sz="1500" b="1" dirty="0">
                <a:solidFill>
                  <a:srgbClr val="14213D"/>
                </a:solidFill>
                <a:latin typeface="IBM Plex Sans" pitchFamily="34" charset="0"/>
                <a:ea typeface="IBM Plex Sans" pitchFamily="34" charset="-122"/>
                <a:cs typeface="IBM Plex Sans" pitchFamily="34" charset="-120"/>
              </a:rPr>
              <a:t>shape the API now</a:t>
            </a:r>
            <a:r>
              <a:rPr lang="en-US" sz="1500" dirty="0">
                <a:solidFill>
                  <a:srgbClr val="4A5568"/>
                </a:solidFill>
                <a:latin typeface="IBM Plex Sans" pitchFamily="34" charset="0"/>
                <a:ea typeface="IBM Plex Sans" pitchFamily="34" charset="-122"/>
                <a:cs typeface="IBM Plex Sans" pitchFamily="34" charset="-120"/>
              </a:rPr>
              <a:t>, while it is still an incubator.</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B"/>
                </a:solidFill>
                <a:latin typeface="JetBrains Mono" pitchFamily="49" charset="0"/>
                <a:ea typeface="JetBrains Mono" pitchFamily="49" charset="-122"/>
                <a:cs typeface="JetBrains Mono" pitchFamily="49" charset="-120"/>
              </a:rPr>
              <a:t>PICK THE RIGHT TOOL</a:t>
            </a:r>
            <a:endParaRPr lang="en-US" sz="1200" dirty="0"/>
          </a:p>
        </p:txBody>
      </p:sp>
      <p:sp>
        <p:nvSpPr>
          <p:cNvPr id="3" name="Text 1"/>
          <p:cNvSpPr/>
          <p:nvPr>
            <p:ph type="title"/>
          </p:nvPr>
        </p:nvSpPr>
        <p:spPr>
          <a:xfrm>
            <a:off x="812800" y="13309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Start simple, graduate when you need more</a:t>
            </a:r>
            <a:endParaRPr lang="en-US" sz="3600" dirty="0"/>
          </a:p>
        </p:txBody>
      </p:sp>
      <p:sp>
        <p:nvSpPr>
          <p:cNvPr id="4" name="Shape 2"/>
          <p:cNvSpPr/>
          <p:nvPr/>
        </p:nvSpPr>
        <p:spPr>
          <a:xfrm>
            <a:off x="812800" y="2138629"/>
            <a:ext cx="5181600" cy="2419350"/>
          </a:xfrm>
          <a:prstGeom prst="roundRect">
            <a:avLst>
              <a:gd name="adj" fmla="val 4199"/>
            </a:avLst>
          </a:prstGeom>
          <a:solidFill>
            <a:srgbClr val="FFFFFF"/>
          </a:solidFill>
          <a:ln/>
        </p:spPr>
      </p:sp>
      <p:sp>
        <p:nvSpPr>
          <p:cNvPr id="5" name="Shape 3"/>
          <p:cNvSpPr/>
          <p:nvPr/>
        </p:nvSpPr>
        <p:spPr>
          <a:xfrm>
            <a:off x="812800" y="2138629"/>
            <a:ext cx="5181600" cy="2419350"/>
          </a:xfrm>
          <a:custGeom>
            <a:avLst/>
            <a:gdLst/>
            <a:ahLst/>
            <a:cxnLst/>
            <a:rect l="l" t="t" r="r" b="b"/>
            <a:pathLst>
              <a:path w="5181600" h="241935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2F5FD0"/>
          </a:solidFill>
          <a:ln/>
        </p:spPr>
      </p:sp>
      <p:sp>
        <p:nvSpPr>
          <p:cNvPr id="6" name="Text 4"/>
          <p:cNvSpPr/>
          <p:nvPr/>
        </p:nvSpPr>
        <p:spPr>
          <a:xfrm>
            <a:off x="1066800" y="2443429"/>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5FD0"/>
                </a:solidFill>
                <a:latin typeface="IBM Plex Sans" pitchFamily="34" charset="0"/>
                <a:ea typeface="IBM Plex Sans" pitchFamily="34" charset="-122"/>
                <a:cs typeface="IBM Plex Sans" pitchFamily="34" charset="-120"/>
              </a:rPr>
              <a:t>JDK JSON API</a:t>
            </a:r>
            <a:endParaRPr lang="en-US" sz="2000" dirty="0"/>
          </a:p>
        </p:txBody>
      </p:sp>
      <p:sp>
        <p:nvSpPr>
          <p:cNvPr id="7" name="Text 5"/>
          <p:cNvSpPr/>
          <p:nvPr/>
        </p:nvSpPr>
        <p:spPr>
          <a:xfrm>
            <a:off x="1137920" y="2875229"/>
            <a:ext cx="4735068" cy="14541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Scripts, CLI tools, JShell</a:t>
            </a:r>
            <a:endParaRPr lang="en-US" sz="1500" dirty="0"/>
          </a:p>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Test assertions on JSON responses</a:t>
            </a:r>
            <a:endParaRPr lang="en-US" sz="1500" dirty="0"/>
          </a:p>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Small config files</a:t>
            </a:r>
            <a:endParaRPr lang="en-US" sz="1500" dirty="0"/>
          </a:p>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Reading thread dumps / JFR output</a:t>
            </a:r>
            <a:endParaRPr lang="en-US" sz="1500" dirty="0"/>
          </a:p>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Prototypes and POCs</a:t>
            </a:r>
            <a:endParaRPr lang="en-US" sz="1500" dirty="0"/>
          </a:p>
        </p:txBody>
      </p:sp>
      <p:sp>
        <p:nvSpPr>
          <p:cNvPr id="8" name="Shape 6"/>
          <p:cNvSpPr/>
          <p:nvPr/>
        </p:nvSpPr>
        <p:spPr>
          <a:xfrm>
            <a:off x="6197600" y="2138629"/>
            <a:ext cx="5181600" cy="2419350"/>
          </a:xfrm>
          <a:prstGeom prst="roundRect">
            <a:avLst>
              <a:gd name="adj" fmla="val 4199"/>
            </a:avLst>
          </a:prstGeom>
          <a:solidFill>
            <a:srgbClr val="FFFFFF"/>
          </a:solidFill>
          <a:ln/>
        </p:spPr>
      </p:sp>
      <p:sp>
        <p:nvSpPr>
          <p:cNvPr id="9" name="Shape 7"/>
          <p:cNvSpPr/>
          <p:nvPr/>
        </p:nvSpPr>
        <p:spPr>
          <a:xfrm>
            <a:off x="6197600" y="2138629"/>
            <a:ext cx="5181600" cy="2419350"/>
          </a:xfrm>
          <a:custGeom>
            <a:avLst/>
            <a:gdLst/>
            <a:ahLst/>
            <a:cxnLst/>
            <a:rect l="l" t="t" r="r" b="b"/>
            <a:pathLst>
              <a:path w="5181600" h="241935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4A5568"/>
          </a:solidFill>
          <a:ln/>
        </p:spPr>
      </p:sp>
      <p:sp>
        <p:nvSpPr>
          <p:cNvPr id="10" name="Text 8"/>
          <p:cNvSpPr/>
          <p:nvPr/>
        </p:nvSpPr>
        <p:spPr>
          <a:xfrm>
            <a:off x="6451600" y="2443429"/>
            <a:ext cx="481380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4A5568"/>
                </a:solidFill>
                <a:latin typeface="IBM Plex Sans" pitchFamily="34" charset="0"/>
                <a:ea typeface="IBM Plex Sans" pitchFamily="34" charset="-122"/>
                <a:cs typeface="IBM Plex Sans" pitchFamily="34" charset="-120"/>
              </a:rPr>
              <a:t>Jackson / Gson</a:t>
            </a:r>
            <a:endParaRPr lang="en-US" sz="2000" dirty="0"/>
          </a:p>
        </p:txBody>
      </p:sp>
      <p:sp>
        <p:nvSpPr>
          <p:cNvPr id="11" name="Text 9"/>
          <p:cNvSpPr/>
          <p:nvPr/>
        </p:nvSpPr>
        <p:spPr>
          <a:xfrm>
            <a:off x="6522720" y="2875229"/>
            <a:ext cx="4735068" cy="14541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REST APIs (Spring, Quarkus…)</a:t>
            </a:r>
            <a:endParaRPr lang="en-US" sz="1500" dirty="0"/>
          </a:p>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Object mapping to POJOs / records</a:t>
            </a:r>
            <a:endParaRPr lang="en-US" sz="1500" dirty="0"/>
          </a:p>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Streaming very large files</a:t>
            </a:r>
            <a:endParaRPr lang="en-US" sz="1500" dirty="0"/>
          </a:p>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Lenient formats (comments…)</a:t>
            </a:r>
            <a:endParaRPr lang="en-US" sz="1500" dirty="0"/>
          </a:p>
          <a:p>
            <a:pPr algn="l" marL="182880" indent="-182880">
              <a:lnSpc>
                <a:spcPts val="2250"/>
              </a:lnSpc>
              <a:buSzPct val="100000"/>
              <a:buChar char="•"/>
            </a:pPr>
            <a:r>
              <a:rPr lang="en-US" sz="1500" dirty="0">
                <a:solidFill>
                  <a:srgbClr val="14213D"/>
                </a:solidFill>
                <a:latin typeface="IBM Plex Sans" pitchFamily="34" charset="0"/>
                <a:ea typeface="IBM Plex Sans" pitchFamily="34" charset="-122"/>
                <a:cs typeface="IBM Plex Sans" pitchFamily="34" charset="-120"/>
              </a:rPr>
              <a:t>Anything in production today</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07A2F"/>
        </a:solidFill>
      </p:bgPr>
    </p:bg>
    <p:spTree>
      <p:nvGrpSpPr>
        <p:cNvPr id="1" name=""/>
        <p:cNvGrpSpPr/>
        <p:nvPr/>
      </p:nvGrpSpPr>
      <p:grpSpPr>
        <a:xfrm>
          <a:off x="0" y="0"/>
          <a:ext cx="0" cy="0"/>
          <a:chOff x="0" y="0"/>
          <a:chExt cx="0" cy="0"/>
        </a:xfrm>
      </p:grpSpPr>
      <p:sp>
        <p:nvSpPr>
          <p:cNvPr id="2" name="Text 0"/>
          <p:cNvSpPr/>
          <p:nvPr/>
        </p:nvSpPr>
        <p:spPr>
          <a:xfrm>
            <a:off x="812800" y="2457450"/>
            <a:ext cx="10883392" cy="309827"/>
          </a:xfrm>
          <a:prstGeom prst="rect">
            <a:avLst/>
          </a:prstGeom>
          <a:noFill/>
          <a:ln/>
        </p:spPr>
        <p:txBody>
          <a:bodyPr wrap="square" lIns="0" tIns="0" rIns="0" bIns="0" rtlCol="0" anchor="t">
            <a:normAutofit/>
          </a:bodyPr>
          <a:lstStyle/>
          <a:p>
            <a:pPr algn="l" indent="0" marL="0">
              <a:lnSpc>
                <a:spcPts val="2240"/>
              </a:lnSpc>
              <a:buNone/>
            </a:pPr>
            <a:r>
              <a:rPr lang="en-US" sz="1600" spc="100" kern="0" dirty="0">
                <a:solidFill>
                  <a:srgbClr val="14213D"/>
                </a:solidFill>
                <a:latin typeface="JetBrains Mono" pitchFamily="49" charset="0"/>
                <a:ea typeface="JetBrains Mono" pitchFamily="49" charset="-122"/>
                <a:cs typeface="JetBrains Mono" pitchFamily="49" charset="-120"/>
              </a:rPr>
              <a:t>LIVE DEMO</a:t>
            </a:r>
            <a:endParaRPr lang="en-US" sz="1600" dirty="0"/>
          </a:p>
        </p:txBody>
      </p:sp>
      <p:sp>
        <p:nvSpPr>
          <p:cNvPr id="3" name="Text 1"/>
          <p:cNvSpPr/>
          <p:nvPr>
            <p:ph type="title"/>
          </p:nvPr>
        </p:nvSpPr>
        <p:spPr>
          <a:xfrm>
            <a:off x="812800" y="2945079"/>
            <a:ext cx="10883392" cy="914400"/>
          </a:xfrm>
          <a:prstGeom prst="rect">
            <a:avLst/>
          </a:prstGeom>
          <a:noFill/>
          <a:ln/>
        </p:spPr>
        <p:txBody>
          <a:bodyPr wrap="square" lIns="0" tIns="0" rIns="0" bIns="0" rtlCol="0" anchor="t">
            <a:normAutofit/>
          </a:bodyPr>
          <a:lstStyle/>
          <a:p>
            <a:pPr algn="l" indent="0" marL="0">
              <a:lnSpc>
                <a:spcPts val="7000"/>
              </a:lnSpc>
              <a:buNone/>
            </a:pPr>
            <a:r>
              <a:rPr lang="en-US" sz="7000" b="1" i="0" dirty="0">
                <a:solidFill>
                  <a:srgbClr val="14213D"/>
                </a:solidFill>
                <a:latin typeface="IBM Plex Sans" pitchFamily="34" charset="0"/>
                <a:ea typeface="IBM Plex Sans" pitchFamily="34" charset="-122"/>
                <a:cs typeface="IBM Plex Sans" pitchFamily="34" charset="-120"/>
              </a:rPr>
              <a:t>Let’s run it.</a:t>
            </a:r>
            <a:endParaRPr lang="en-US" sz="7000" dirty="0"/>
          </a:p>
        </p:txBody>
      </p:sp>
      <p:sp>
        <p:nvSpPr>
          <p:cNvPr id="4" name="Text 2"/>
          <p:cNvSpPr/>
          <p:nvPr/>
        </p:nvSpPr>
        <p:spPr>
          <a:xfrm>
            <a:off x="812800" y="4037279"/>
            <a:ext cx="9156700" cy="388607"/>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4213D"/>
                </a:solidFill>
                <a:latin typeface="IBM Plex Sans" pitchFamily="34" charset="0"/>
                <a:ea typeface="IBM Plex Sans" pitchFamily="34" charset="-122"/>
                <a:cs typeface="IBM Plex Sans" pitchFamily="34" charset="-120"/>
              </a:rPr>
              <a:t>One JDK. No Maven. No Jackson. Three small programs.</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7A2F"/>
                </a:solidFill>
                <a:latin typeface="JetBrains Mono" pitchFamily="49" charset="0"/>
                <a:ea typeface="JetBrains Mono" pitchFamily="49" charset="-122"/>
                <a:cs typeface="JetBrains Mono" pitchFamily="49" charset="-120"/>
              </a:rPr>
              <a:t>DEMO · SCRIPT</a:t>
            </a:r>
            <a:endParaRPr lang="en-US" sz="1200" dirty="0"/>
          </a:p>
        </p:txBody>
      </p:sp>
      <p:sp>
        <p:nvSpPr>
          <p:cNvPr id="3" name="Text 1"/>
          <p:cNvSpPr/>
          <p:nvPr>
            <p:ph type="title"/>
          </p:nvPr>
        </p:nvSpPr>
        <p:spPr>
          <a:xfrm>
            <a:off x="812800" y="12801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2"/>
                </a:solidFill>
                <a:latin typeface="IBM Plex Sans" pitchFamily="34" charset="0"/>
                <a:ea typeface="IBM Plex Sans" pitchFamily="34" charset="-122"/>
                <a:cs typeface="IBM Plex Sans" pitchFamily="34" charset="-120"/>
              </a:rPr>
              <a:t>Three steps, five minutes</a:t>
            </a:r>
            <a:endParaRPr lang="en-US" sz="3600" dirty="0"/>
          </a:p>
        </p:txBody>
      </p:sp>
      <p:sp>
        <p:nvSpPr>
          <p:cNvPr id="4" name="Shape 2"/>
          <p:cNvSpPr/>
          <p:nvPr/>
        </p:nvSpPr>
        <p:spPr>
          <a:xfrm>
            <a:off x="812800" y="2037029"/>
            <a:ext cx="10566400" cy="1160661"/>
          </a:xfrm>
          <a:prstGeom prst="roundRect">
            <a:avLst>
              <a:gd name="adj" fmla="val 8754"/>
            </a:avLst>
          </a:prstGeom>
          <a:solidFill>
            <a:srgbClr val="1B2C4F"/>
          </a:solidFill>
          <a:ln/>
        </p:spPr>
      </p:sp>
      <p:sp>
        <p:nvSpPr>
          <p:cNvPr id="5" name="Text 3"/>
          <p:cNvSpPr/>
          <p:nvPr/>
        </p:nvSpPr>
        <p:spPr>
          <a:xfrm>
            <a:off x="1041400" y="2368420"/>
            <a:ext cx="264186"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07A2F"/>
                </a:solidFill>
                <a:latin typeface="JetBrains Mono" pitchFamily="49" charset="0"/>
                <a:ea typeface="JetBrains Mono" pitchFamily="49" charset="-122"/>
                <a:cs typeface="JetBrains Mono" pitchFamily="49" charset="-120"/>
              </a:rPr>
              <a:t>1</a:t>
            </a:r>
            <a:endParaRPr lang="en-US" sz="2800" dirty="0"/>
          </a:p>
        </p:txBody>
      </p:sp>
      <p:sp>
        <p:nvSpPr>
          <p:cNvPr id="6" name="Text 4"/>
          <p:cNvSpPr/>
          <p:nvPr/>
        </p:nvSpPr>
        <p:spPr>
          <a:xfrm>
            <a:off x="1457986" y="2214829"/>
            <a:ext cx="9983392"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7F6F2"/>
                </a:solidFill>
                <a:latin typeface="IBM Plex Sans" pitchFamily="34" charset="0"/>
                <a:ea typeface="IBM Plex Sans" pitchFamily="34" charset="-122"/>
                <a:cs typeface="IBM Plex Sans" pitchFamily="34" charset="-120"/>
              </a:rPr>
              <a:t>Read a config file — then break it</a:t>
            </a:r>
            <a:endParaRPr lang="en-US" sz="1700" dirty="0"/>
          </a:p>
        </p:txBody>
      </p:sp>
      <p:sp>
        <p:nvSpPr>
          <p:cNvPr id="7" name="Text 5"/>
          <p:cNvSpPr/>
          <p:nvPr/>
        </p:nvSpPr>
        <p:spPr>
          <a:xfrm>
            <a:off x="1457986" y="2524658"/>
            <a:ext cx="99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9"/>
                </a:solidFill>
                <a:latin typeface="JetBrains Mono" pitchFamily="49" charset="0"/>
                <a:ea typeface="JetBrains Mono" pitchFamily="49" charset="-122"/>
                <a:cs typeface="JetBrains Mono" pitchFamily="49" charset="-120"/>
              </a:rPr>
              <a:t>java --add-modules jdk.incubator.json ConfigDemo.java</a:t>
            </a:r>
            <a:endParaRPr lang="en-US" sz="1200" dirty="0"/>
          </a:p>
        </p:txBody>
      </p:sp>
      <p:sp>
        <p:nvSpPr>
          <p:cNvPr id="8" name="Text 6"/>
          <p:cNvSpPr/>
          <p:nvPr/>
        </p:nvSpPr>
        <p:spPr>
          <a:xfrm>
            <a:off x="1457986" y="2788779"/>
            <a:ext cx="99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9"/>
                </a:solidFill>
                <a:latin typeface="IBM Plex Sans" pitchFamily="34" charset="0"/>
                <a:ea typeface="IBM Plex Sans" pitchFamily="34" charset="-122"/>
                <a:cs typeface="IBM Plex Sans" pitchFamily="34" charset="-120"/>
              </a:rPr>
              <a:t>Set "port": "abc" and rerun: a clear error, not a silent 0.</a:t>
            </a:r>
            <a:endParaRPr lang="en-US" sz="1300" dirty="0"/>
          </a:p>
        </p:txBody>
      </p:sp>
      <p:sp>
        <p:nvSpPr>
          <p:cNvPr id="9" name="Shape 7"/>
          <p:cNvSpPr/>
          <p:nvPr/>
        </p:nvSpPr>
        <p:spPr>
          <a:xfrm>
            <a:off x="812800" y="3350090"/>
            <a:ext cx="10566400" cy="1160661"/>
          </a:xfrm>
          <a:prstGeom prst="roundRect">
            <a:avLst>
              <a:gd name="adj" fmla="val 8754"/>
            </a:avLst>
          </a:prstGeom>
          <a:solidFill>
            <a:srgbClr val="1B2C4F"/>
          </a:solidFill>
          <a:ln/>
        </p:spPr>
      </p:sp>
      <p:sp>
        <p:nvSpPr>
          <p:cNvPr id="10" name="Text 8"/>
          <p:cNvSpPr/>
          <p:nvPr/>
        </p:nvSpPr>
        <p:spPr>
          <a:xfrm>
            <a:off x="1041400" y="3681481"/>
            <a:ext cx="264186"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07A2F"/>
                </a:solidFill>
                <a:latin typeface="JetBrains Mono" pitchFamily="49" charset="0"/>
                <a:ea typeface="JetBrains Mono" pitchFamily="49" charset="-122"/>
                <a:cs typeface="JetBrains Mono" pitchFamily="49" charset="-120"/>
              </a:rPr>
              <a:t>2</a:t>
            </a:r>
            <a:endParaRPr lang="en-US" sz="2800" dirty="0"/>
          </a:p>
        </p:txBody>
      </p:sp>
      <p:sp>
        <p:nvSpPr>
          <p:cNvPr id="11" name="Text 9"/>
          <p:cNvSpPr/>
          <p:nvPr/>
        </p:nvSpPr>
        <p:spPr>
          <a:xfrm>
            <a:off x="1457986" y="3527890"/>
            <a:ext cx="9983392"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7F6F2"/>
                </a:solidFill>
                <a:latin typeface="IBM Plex Sans" pitchFamily="34" charset="0"/>
                <a:ea typeface="IBM Plex Sans" pitchFamily="34" charset="-122"/>
                <a:cs typeface="IBM Plex Sans" pitchFamily="34" charset="-120"/>
              </a:rPr>
              <a:t>Explore JSON live in JShell</a:t>
            </a:r>
            <a:endParaRPr lang="en-US" sz="1700" dirty="0"/>
          </a:p>
        </p:txBody>
      </p:sp>
      <p:sp>
        <p:nvSpPr>
          <p:cNvPr id="12" name="Text 10"/>
          <p:cNvSpPr/>
          <p:nvPr/>
        </p:nvSpPr>
        <p:spPr>
          <a:xfrm>
            <a:off x="1457986" y="3837719"/>
            <a:ext cx="99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9"/>
                </a:solidFill>
                <a:latin typeface="JetBrains Mono" pitchFamily="49" charset="0"/>
                <a:ea typeface="JetBrains Mono" pitchFamily="49" charset="-122"/>
                <a:cs typeface="JetBrains Mono" pitchFamily="49" charset="-120"/>
              </a:rPr>
              <a:t>jshell --add-modules jdk.incubator.json</a:t>
            </a:r>
            <a:endParaRPr lang="en-US" sz="1200" dirty="0"/>
          </a:p>
        </p:txBody>
      </p:sp>
      <p:sp>
        <p:nvSpPr>
          <p:cNvPr id="13" name="Text 11"/>
          <p:cNvSpPr/>
          <p:nvPr/>
        </p:nvSpPr>
        <p:spPr>
          <a:xfrm>
            <a:off x="1457986" y="4101840"/>
            <a:ext cx="99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9"/>
                </a:solidFill>
                <a:latin typeface="IBM Plex Sans" pitchFamily="34" charset="0"/>
                <a:ea typeface="IBM Plex Sans" pitchFamily="34" charset="-122"/>
                <a:cs typeface="IBM Plex Sans" pitchFamily="34" charset="-120"/>
              </a:rPr>
              <a:t>Parse, navigate, pretty-print with toDisplayString.</a:t>
            </a:r>
            <a:endParaRPr lang="en-US" sz="1300" dirty="0"/>
          </a:p>
        </p:txBody>
      </p:sp>
      <p:sp>
        <p:nvSpPr>
          <p:cNvPr id="14" name="Shape 12"/>
          <p:cNvSpPr/>
          <p:nvPr/>
        </p:nvSpPr>
        <p:spPr>
          <a:xfrm>
            <a:off x="812800" y="4663151"/>
            <a:ext cx="10566400" cy="1160661"/>
          </a:xfrm>
          <a:prstGeom prst="roundRect">
            <a:avLst>
              <a:gd name="adj" fmla="val 8754"/>
            </a:avLst>
          </a:prstGeom>
          <a:solidFill>
            <a:srgbClr val="1B2C4F"/>
          </a:solidFill>
          <a:ln/>
        </p:spPr>
      </p:sp>
      <p:sp>
        <p:nvSpPr>
          <p:cNvPr id="15" name="Text 13"/>
          <p:cNvSpPr/>
          <p:nvPr/>
        </p:nvSpPr>
        <p:spPr>
          <a:xfrm>
            <a:off x="1041400" y="4994542"/>
            <a:ext cx="264186" cy="523214"/>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07A2F"/>
                </a:solidFill>
                <a:latin typeface="JetBrains Mono" pitchFamily="49" charset="0"/>
                <a:ea typeface="JetBrains Mono" pitchFamily="49" charset="-122"/>
                <a:cs typeface="JetBrains Mono" pitchFamily="49" charset="-120"/>
              </a:rPr>
              <a:t>3</a:t>
            </a:r>
            <a:endParaRPr lang="en-US" sz="2800" dirty="0"/>
          </a:p>
        </p:txBody>
      </p:sp>
      <p:sp>
        <p:nvSpPr>
          <p:cNvPr id="16" name="Text 14"/>
          <p:cNvSpPr/>
          <p:nvPr/>
        </p:nvSpPr>
        <p:spPr>
          <a:xfrm>
            <a:off x="1457986" y="4840951"/>
            <a:ext cx="9983392"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7F6F2"/>
                </a:solidFill>
                <a:latin typeface="IBM Plex Sans" pitchFamily="34" charset="0"/>
                <a:ea typeface="IBM Plex Sans" pitchFamily="34" charset="-122"/>
                <a:cs typeface="IBM Plex Sans" pitchFamily="34" charset="-120"/>
              </a:rPr>
              <a:t>Analyse a thread dump of our own app</a:t>
            </a:r>
            <a:endParaRPr lang="en-US" sz="1700" dirty="0"/>
          </a:p>
        </p:txBody>
      </p:sp>
      <p:sp>
        <p:nvSpPr>
          <p:cNvPr id="17" name="Text 15"/>
          <p:cNvSpPr/>
          <p:nvPr/>
        </p:nvSpPr>
        <p:spPr>
          <a:xfrm>
            <a:off x="1457986" y="5150780"/>
            <a:ext cx="99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9"/>
                </a:solidFill>
                <a:latin typeface="JetBrains Mono" pitchFamily="49" charset="0"/>
                <a:ea typeface="JetBrains Mono" pitchFamily="49" charset="-122"/>
                <a:cs typeface="JetBrains Mono" pitchFamily="49" charset="-120"/>
              </a:rPr>
              <a:t>jcmd &lt;pid&gt; Thread.dump_to_file -format=json dump.json</a:t>
            </a:r>
            <a:endParaRPr lang="en-US" sz="1200" dirty="0"/>
          </a:p>
        </p:txBody>
      </p:sp>
      <p:sp>
        <p:nvSpPr>
          <p:cNvPr id="18" name="Text 16"/>
          <p:cNvSpPr/>
          <p:nvPr/>
        </p:nvSpPr>
        <p:spPr>
          <a:xfrm>
            <a:off x="1457986" y="5414900"/>
            <a:ext cx="998339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9"/>
                </a:solidFill>
                <a:latin typeface="IBM Plex Sans" pitchFamily="34" charset="0"/>
                <a:ea typeface="IBM Plex Sans" pitchFamily="34" charset="-122"/>
                <a:cs typeface="IBM Plex Sans" pitchFamily="34" charset="-120"/>
              </a:rPr>
              <a:t>List virtual threads with a 20-line tool. Next slide.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7A2F"/>
                </a:solidFill>
                <a:latin typeface="JetBrains Mono" pitchFamily="49" charset="0"/>
                <a:ea typeface="JetBrains Mono" pitchFamily="49" charset="-122"/>
                <a:cs typeface="JetBrains Mono" pitchFamily="49" charset="-120"/>
              </a:rPr>
              <a:t>DEMO · THE OPS WIN</a:t>
            </a:r>
            <a:endParaRPr lang="en-US" sz="1200" dirty="0"/>
          </a:p>
        </p:txBody>
      </p:sp>
      <p:sp>
        <p:nvSpPr>
          <p:cNvPr id="3" name="Text 1"/>
          <p:cNvSpPr/>
          <p:nvPr>
            <p:ph type="title"/>
          </p:nvPr>
        </p:nvSpPr>
        <p:spPr>
          <a:xfrm>
            <a:off x="812800" y="12801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2"/>
                </a:solidFill>
                <a:latin typeface="IBM Plex Sans" pitchFamily="34" charset="0"/>
                <a:ea typeface="IBM Plex Sans" pitchFamily="34" charset="-122"/>
                <a:cs typeface="IBM Plex Sans" pitchFamily="34" charset="-120"/>
              </a:rPr>
              <a:t>Which virtual threads are running in prod?</a:t>
            </a:r>
            <a:endParaRPr lang="en-US" sz="3600" dirty="0"/>
          </a:p>
        </p:txBody>
      </p:sp>
      <p:sp>
        <p:nvSpPr>
          <p:cNvPr id="4" name="Shape 2"/>
          <p:cNvSpPr/>
          <p:nvPr/>
        </p:nvSpPr>
        <p:spPr>
          <a:xfrm>
            <a:off x="815975" y="2040210"/>
            <a:ext cx="6367330" cy="3059840"/>
          </a:xfrm>
          <a:prstGeom prst="roundRect">
            <a:avLst>
              <a:gd name="adj" fmla="val 3217"/>
            </a:avLst>
          </a:prstGeom>
          <a:solidFill>
            <a:srgbClr val="0F1A30"/>
          </a:solidFill>
          <a:ln w="6350">
            <a:solidFill>
              <a:srgbClr val="2E4570"/>
            </a:solidFill>
            <a:prstDash val="solid"/>
          </a:ln>
        </p:spPr>
      </p:sp>
      <p:sp>
        <p:nvSpPr>
          <p:cNvPr id="5" name="Text 3"/>
          <p:cNvSpPr/>
          <p:nvPr/>
        </p:nvSpPr>
        <p:spPr>
          <a:xfrm>
            <a:off x="1045633" y="2269865"/>
            <a:ext cx="6085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JetBrains Mono" pitchFamily="49" charset="0"/>
                <a:ea typeface="JetBrains Mono" pitchFamily="49" charset="-122"/>
                <a:cs typeface="JetBrains Mono" pitchFamily="49" charset="-120"/>
              </a:rPr>
              <a:t>// ThreadDumpDemo.java</a:t>
            </a:r>
            <a:endParaRPr lang="en-US" sz="1200" dirty="0"/>
          </a:p>
        </p:txBody>
      </p:sp>
      <p:sp>
        <p:nvSpPr>
          <p:cNvPr id="6" name="Text 4"/>
          <p:cNvSpPr/>
          <p:nvPr/>
        </p:nvSpPr>
        <p:spPr>
          <a:xfrm>
            <a:off x="1045633" y="2508585"/>
            <a:ext cx="6085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var dump = Json.parse(Files.readString(path));</a:t>
            </a:r>
            <a:endParaRPr lang="en-US" sz="1200" dirty="0"/>
          </a:p>
        </p:txBody>
      </p:sp>
      <p:sp>
        <p:nvSpPr>
          <p:cNvPr id="7" name="Text 5"/>
          <p:cNvSpPr/>
          <p:nvPr/>
        </p:nvSpPr>
        <p:spPr>
          <a:xfrm>
            <a:off x="1045633" y="2747305"/>
            <a:ext cx="6085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for (var c : dump.get("threadDump")</a:t>
            </a:r>
            <a:endParaRPr lang="en-US" sz="1200" dirty="0"/>
          </a:p>
        </p:txBody>
      </p:sp>
      <p:sp>
        <p:nvSpPr>
          <p:cNvPr id="8" name="Text 6"/>
          <p:cNvSpPr/>
          <p:nvPr/>
        </p:nvSpPr>
        <p:spPr>
          <a:xfrm>
            <a:off x="1045633" y="2986025"/>
            <a:ext cx="6085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.get("threadContainers").asList()) {</a:t>
            </a:r>
            <a:endParaRPr lang="en-US" sz="1200" dirty="0"/>
          </a:p>
        </p:txBody>
      </p:sp>
      <p:sp>
        <p:nvSpPr>
          <p:cNvPr id="9" name="Text 7"/>
          <p:cNvSpPr/>
          <p:nvPr/>
        </p:nvSpPr>
        <p:spPr>
          <a:xfrm>
            <a:off x="1045633" y="3224746"/>
            <a:ext cx="6085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c.get("threads").asList().stream()</a:t>
            </a:r>
            <a:endParaRPr lang="en-US" sz="1200" dirty="0"/>
          </a:p>
        </p:txBody>
      </p:sp>
      <p:sp>
        <p:nvSpPr>
          <p:cNvPr id="10" name="Text 8"/>
          <p:cNvSpPr/>
          <p:nvPr/>
        </p:nvSpPr>
        <p:spPr>
          <a:xfrm>
            <a:off x="1045633" y="3463466"/>
            <a:ext cx="6085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.filter(t -&gt; t.tryGet("virtual")</a:t>
            </a:r>
            <a:endParaRPr lang="en-US" sz="1200" dirty="0"/>
          </a:p>
        </p:txBody>
      </p:sp>
      <p:sp>
        <p:nvSpPr>
          <p:cNvPr id="11" name="Text 9"/>
          <p:cNvSpPr/>
          <p:nvPr/>
        </p:nvSpPr>
        <p:spPr>
          <a:xfrm>
            <a:off x="1045633" y="3702186"/>
            <a:ext cx="6085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.map(JsonValue::asBoolean)</a:t>
            </a:r>
            <a:endParaRPr lang="en-US" sz="1200" dirty="0"/>
          </a:p>
        </p:txBody>
      </p:sp>
      <p:sp>
        <p:nvSpPr>
          <p:cNvPr id="12" name="Text 10"/>
          <p:cNvSpPr/>
          <p:nvPr/>
        </p:nvSpPr>
        <p:spPr>
          <a:xfrm>
            <a:off x="1045633" y="3940907"/>
            <a:ext cx="6085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.orElse(false))</a:t>
            </a:r>
            <a:endParaRPr lang="en-US" sz="1200" dirty="0"/>
          </a:p>
        </p:txBody>
      </p:sp>
      <p:sp>
        <p:nvSpPr>
          <p:cNvPr id="13" name="Text 11"/>
          <p:cNvSpPr/>
          <p:nvPr/>
        </p:nvSpPr>
        <p:spPr>
          <a:xfrm>
            <a:off x="1045633" y="4179627"/>
            <a:ext cx="6085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.forEach(t -&gt; IO.println(</a:t>
            </a:r>
            <a:endParaRPr lang="en-US" sz="1200" dirty="0"/>
          </a:p>
        </p:txBody>
      </p:sp>
      <p:sp>
        <p:nvSpPr>
          <p:cNvPr id="14" name="Text 12"/>
          <p:cNvSpPr/>
          <p:nvPr/>
        </p:nvSpPr>
        <p:spPr>
          <a:xfrm>
            <a:off x="1045633" y="4418347"/>
            <a:ext cx="6085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     t.get("name").asString()));</a:t>
            </a:r>
            <a:endParaRPr lang="en-US" sz="1200" dirty="0"/>
          </a:p>
        </p:txBody>
      </p:sp>
      <p:sp>
        <p:nvSpPr>
          <p:cNvPr id="15" name="Text 13"/>
          <p:cNvSpPr/>
          <p:nvPr/>
        </p:nvSpPr>
        <p:spPr>
          <a:xfrm>
            <a:off x="1045633" y="4657068"/>
            <a:ext cx="60852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AF0"/>
                </a:solidFill>
                <a:latin typeface="JetBrains Mono" pitchFamily="49" charset="0"/>
                <a:ea typeface="JetBrains Mono" pitchFamily="49" charset="-122"/>
                <a:cs typeface="JetBrains Mono" pitchFamily="49" charset="-120"/>
              </a:rPr>
              <a:t>}</a:t>
            </a:r>
            <a:endParaRPr lang="en-US" sz="1200" dirty="0"/>
          </a:p>
        </p:txBody>
      </p:sp>
      <p:sp>
        <p:nvSpPr>
          <p:cNvPr id="16" name="Shape 14"/>
          <p:cNvSpPr/>
          <p:nvPr/>
        </p:nvSpPr>
        <p:spPr>
          <a:xfrm>
            <a:off x="7440481" y="2037035"/>
            <a:ext cx="3938720" cy="1163241"/>
          </a:xfrm>
          <a:prstGeom prst="roundRect">
            <a:avLst>
              <a:gd name="adj" fmla="val 8734"/>
            </a:avLst>
          </a:prstGeom>
          <a:solidFill>
            <a:srgbClr val="1B2C4F"/>
          </a:solidFill>
          <a:ln/>
        </p:spPr>
      </p:sp>
      <p:sp>
        <p:nvSpPr>
          <p:cNvPr id="17" name="Text 15"/>
          <p:cNvSpPr/>
          <p:nvPr/>
        </p:nvSpPr>
        <p:spPr>
          <a:xfrm>
            <a:off x="7643681" y="2240235"/>
            <a:ext cx="363829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07A2F"/>
                </a:solidFill>
                <a:latin typeface="IBM Plex Sans" pitchFamily="34" charset="0"/>
                <a:ea typeface="IBM Plex Sans" pitchFamily="34" charset="-122"/>
                <a:cs typeface="IBM Plex Sans" pitchFamily="34" charset="-120"/>
              </a:rPr>
              <a:t>Input</a:t>
            </a:r>
            <a:endParaRPr lang="en-US" sz="1600" dirty="0"/>
          </a:p>
        </p:txBody>
      </p:sp>
      <p:sp>
        <p:nvSpPr>
          <p:cNvPr id="18" name="Text 16"/>
          <p:cNvSpPr/>
          <p:nvPr/>
        </p:nvSpPr>
        <p:spPr>
          <a:xfrm>
            <a:off x="7643681" y="2534841"/>
            <a:ext cx="363829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9"/>
                </a:solidFill>
                <a:latin typeface="IBM Plex Sans" pitchFamily="34" charset="0"/>
                <a:ea typeface="IBM Plex Sans" pitchFamily="34" charset="-122"/>
                <a:cs typeface="IBM Plex Sans" pitchFamily="34" charset="-120"/>
              </a:rPr>
              <a:t>JSON thread dump the JDK already produces (Java 21+).</a:t>
            </a:r>
            <a:endParaRPr lang="en-US" sz="1300" dirty="0"/>
          </a:p>
        </p:txBody>
      </p:sp>
      <p:sp>
        <p:nvSpPr>
          <p:cNvPr id="19" name="Shape 17"/>
          <p:cNvSpPr/>
          <p:nvPr/>
        </p:nvSpPr>
        <p:spPr>
          <a:xfrm>
            <a:off x="7440481" y="3352676"/>
            <a:ext cx="3938720" cy="1163241"/>
          </a:xfrm>
          <a:prstGeom prst="roundRect">
            <a:avLst>
              <a:gd name="adj" fmla="val 8734"/>
            </a:avLst>
          </a:prstGeom>
          <a:solidFill>
            <a:srgbClr val="1B2C4F"/>
          </a:solidFill>
          <a:ln/>
        </p:spPr>
      </p:sp>
      <p:sp>
        <p:nvSpPr>
          <p:cNvPr id="20" name="Text 18"/>
          <p:cNvSpPr/>
          <p:nvPr/>
        </p:nvSpPr>
        <p:spPr>
          <a:xfrm>
            <a:off x="7643681" y="3555876"/>
            <a:ext cx="363829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07A2F"/>
                </a:solidFill>
                <a:latin typeface="IBM Plex Sans" pitchFamily="34" charset="0"/>
                <a:ea typeface="IBM Plex Sans" pitchFamily="34" charset="-122"/>
                <a:cs typeface="IBM Plex Sans" pitchFamily="34" charset="-120"/>
              </a:rPr>
              <a:t>Output</a:t>
            </a:r>
            <a:endParaRPr lang="en-US" sz="1600" dirty="0"/>
          </a:p>
        </p:txBody>
      </p:sp>
      <p:sp>
        <p:nvSpPr>
          <p:cNvPr id="21" name="Text 19"/>
          <p:cNvSpPr/>
          <p:nvPr/>
        </p:nvSpPr>
        <p:spPr>
          <a:xfrm>
            <a:off x="7643681" y="3850481"/>
            <a:ext cx="363829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9"/>
                </a:solidFill>
                <a:latin typeface="IBM Plex Sans" pitchFamily="34" charset="0"/>
                <a:ea typeface="IBM Plex Sans" pitchFamily="34" charset="-122"/>
                <a:cs typeface="IBM Plex Sans" pitchFamily="34" charset="-120"/>
              </a:rPr>
              <a:t>A custom diagnostic tool in one file. No project, no jars.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4531B"/>
                </a:solidFill>
                <a:latin typeface="JetBrains Mono" pitchFamily="49" charset="0"/>
                <a:ea typeface="JetBrains Mono" pitchFamily="49" charset="-122"/>
                <a:cs typeface="JetBrains Mono" pitchFamily="49" charset="-120"/>
              </a:rPr>
              <a:t>OUR PROPOSAL</a:t>
            </a:r>
            <a:endParaRPr lang="en-US" sz="1200" dirty="0"/>
          </a:p>
        </p:txBody>
      </p:sp>
      <p:sp>
        <p:nvSpPr>
          <p:cNvPr id="3" name="Text 1"/>
          <p:cNvSpPr/>
          <p:nvPr>
            <p:ph type="title"/>
          </p:nvPr>
        </p:nvSpPr>
        <p:spPr>
          <a:xfrm>
            <a:off x="812800" y="13309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Small bet, zero production risk</a:t>
            </a:r>
            <a:endParaRPr lang="en-US" sz="3600" dirty="0"/>
          </a:p>
        </p:txBody>
      </p:sp>
      <p:sp>
        <p:nvSpPr>
          <p:cNvPr id="4" name="Shape 2"/>
          <p:cNvSpPr/>
          <p:nvPr/>
        </p:nvSpPr>
        <p:spPr>
          <a:xfrm>
            <a:off x="815975" y="2141810"/>
            <a:ext cx="3380317" cy="1962878"/>
          </a:xfrm>
          <a:prstGeom prst="roundRect">
            <a:avLst>
              <a:gd name="adj" fmla="val 5014"/>
            </a:avLst>
          </a:prstGeom>
          <a:solidFill>
            <a:srgbClr val="FFFFFF"/>
          </a:solidFill>
          <a:ln w="6350">
            <a:solidFill>
              <a:srgbClr val="DDD9CE"/>
            </a:solidFill>
            <a:prstDash val="solid"/>
          </a:ln>
        </p:spPr>
      </p:sp>
      <p:sp>
        <p:nvSpPr>
          <p:cNvPr id="5" name="Text 3"/>
          <p:cNvSpPr/>
          <p:nvPr/>
        </p:nvSpPr>
        <p:spPr>
          <a:xfrm>
            <a:off x="1071033" y="2396865"/>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31B"/>
                </a:solidFill>
                <a:latin typeface="JetBrains Mono" pitchFamily="49" charset="0"/>
                <a:ea typeface="JetBrains Mono" pitchFamily="49" charset="-122"/>
                <a:cs typeface="JetBrains Mono" pitchFamily="49" charset="-120"/>
              </a:rPr>
              <a:t>NOW</a:t>
            </a:r>
            <a:endParaRPr lang="en-US" sz="1200" dirty="0"/>
          </a:p>
        </p:txBody>
      </p:sp>
      <p:sp>
        <p:nvSpPr>
          <p:cNvPr id="6" name="Text 4"/>
          <p:cNvSpPr/>
          <p:nvPr/>
        </p:nvSpPr>
        <p:spPr>
          <a:xfrm>
            <a:off x="1071033" y="2711785"/>
            <a:ext cx="2956306"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4213D"/>
                </a:solidFill>
                <a:latin typeface="IBM Plex Sans" pitchFamily="34" charset="0"/>
                <a:ea typeface="IBM Plex Sans" pitchFamily="34" charset="-122"/>
                <a:cs typeface="IBM Plex Sans" pitchFamily="34" charset="-120"/>
              </a:rPr>
              <a:t>Try it</a:t>
            </a:r>
            <a:endParaRPr lang="en-US" sz="1900" dirty="0"/>
          </a:p>
        </p:txBody>
      </p:sp>
      <p:sp>
        <p:nvSpPr>
          <p:cNvPr id="7" name="Text 5"/>
          <p:cNvSpPr/>
          <p:nvPr/>
        </p:nvSpPr>
        <p:spPr>
          <a:xfrm>
            <a:off x="1071033" y="3102905"/>
            <a:ext cx="2956306"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Install the JDK 28 build on dev machines. Use it for one internal tool: thread-dump or log analysis.</a:t>
            </a:r>
            <a:endParaRPr lang="en-US" sz="1400" dirty="0"/>
          </a:p>
        </p:txBody>
      </p:sp>
      <p:sp>
        <p:nvSpPr>
          <p:cNvPr id="8" name="Shape 6"/>
          <p:cNvSpPr/>
          <p:nvPr/>
        </p:nvSpPr>
        <p:spPr>
          <a:xfrm>
            <a:off x="4405842" y="2141810"/>
            <a:ext cx="3380317" cy="1962878"/>
          </a:xfrm>
          <a:prstGeom prst="roundRect">
            <a:avLst>
              <a:gd name="adj" fmla="val 5014"/>
            </a:avLst>
          </a:prstGeom>
          <a:solidFill>
            <a:srgbClr val="FFFFFF"/>
          </a:solidFill>
          <a:ln w="6350">
            <a:solidFill>
              <a:srgbClr val="DDD9CE"/>
            </a:solidFill>
            <a:prstDash val="solid"/>
          </a:ln>
        </p:spPr>
      </p:sp>
      <p:sp>
        <p:nvSpPr>
          <p:cNvPr id="9" name="Text 7"/>
          <p:cNvSpPr/>
          <p:nvPr/>
        </p:nvSpPr>
        <p:spPr>
          <a:xfrm>
            <a:off x="4660900" y="2396865"/>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31B"/>
                </a:solidFill>
                <a:latin typeface="JetBrains Mono" pitchFamily="49" charset="0"/>
                <a:ea typeface="JetBrains Mono" pitchFamily="49" charset="-122"/>
                <a:cs typeface="JetBrains Mono" pitchFamily="49" charset="-120"/>
              </a:rPr>
              <a:t>NEXT 3 MONTHS</a:t>
            </a:r>
            <a:endParaRPr lang="en-US" sz="1200" dirty="0"/>
          </a:p>
        </p:txBody>
      </p:sp>
      <p:sp>
        <p:nvSpPr>
          <p:cNvPr id="10" name="Text 8"/>
          <p:cNvSpPr/>
          <p:nvPr/>
        </p:nvSpPr>
        <p:spPr>
          <a:xfrm>
            <a:off x="4660900" y="2711785"/>
            <a:ext cx="2956306"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4213D"/>
                </a:solidFill>
                <a:latin typeface="IBM Plex Sans" pitchFamily="34" charset="0"/>
                <a:ea typeface="IBM Plex Sans" pitchFamily="34" charset="-122"/>
                <a:cs typeface="IBM Plex Sans" pitchFamily="34" charset="-120"/>
              </a:rPr>
              <a:t>Give feedback</a:t>
            </a:r>
            <a:endParaRPr lang="en-US" sz="1900" dirty="0"/>
          </a:p>
        </p:txBody>
      </p:sp>
      <p:sp>
        <p:nvSpPr>
          <p:cNvPr id="11" name="Text 9"/>
          <p:cNvSpPr/>
          <p:nvPr/>
        </p:nvSpPr>
        <p:spPr>
          <a:xfrm>
            <a:off x="4660900" y="3102905"/>
            <a:ext cx="2956306"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Send our real use cases to core-libs-dev@openjdk.org while the API can still change.</a:t>
            </a:r>
            <a:endParaRPr lang="en-US" sz="1400" dirty="0"/>
          </a:p>
        </p:txBody>
      </p:sp>
      <p:sp>
        <p:nvSpPr>
          <p:cNvPr id="12" name="Shape 10"/>
          <p:cNvSpPr/>
          <p:nvPr/>
        </p:nvSpPr>
        <p:spPr>
          <a:xfrm>
            <a:off x="7995709" y="2141810"/>
            <a:ext cx="3380317" cy="1962878"/>
          </a:xfrm>
          <a:prstGeom prst="roundRect">
            <a:avLst>
              <a:gd name="adj" fmla="val 5014"/>
            </a:avLst>
          </a:prstGeom>
          <a:solidFill>
            <a:srgbClr val="FFFFFF"/>
          </a:solidFill>
          <a:ln w="6350">
            <a:solidFill>
              <a:srgbClr val="DDD9CE"/>
            </a:solidFill>
            <a:prstDash val="solid"/>
          </a:ln>
        </p:spPr>
      </p:sp>
      <p:sp>
        <p:nvSpPr>
          <p:cNvPr id="13" name="Text 11"/>
          <p:cNvSpPr/>
          <p:nvPr/>
        </p:nvSpPr>
        <p:spPr>
          <a:xfrm>
            <a:off x="8250767" y="2396865"/>
            <a:ext cx="295630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531B"/>
                </a:solidFill>
                <a:latin typeface="JetBrains Mono" pitchFamily="49" charset="0"/>
                <a:ea typeface="JetBrains Mono" pitchFamily="49" charset="-122"/>
                <a:cs typeface="JetBrains Mono" pitchFamily="49" charset="-120"/>
              </a:rPr>
              <a:t>AT NEXT LTS</a:t>
            </a:r>
            <a:endParaRPr lang="en-US" sz="1200" dirty="0"/>
          </a:p>
        </p:txBody>
      </p:sp>
      <p:sp>
        <p:nvSpPr>
          <p:cNvPr id="14" name="Text 12"/>
          <p:cNvSpPr/>
          <p:nvPr/>
        </p:nvSpPr>
        <p:spPr>
          <a:xfrm>
            <a:off x="8250767" y="2711785"/>
            <a:ext cx="2956306"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4213D"/>
                </a:solidFill>
                <a:latin typeface="IBM Plex Sans" pitchFamily="34" charset="0"/>
                <a:ea typeface="IBM Plex Sans" pitchFamily="34" charset="-122"/>
                <a:cs typeface="IBM Plex Sans" pitchFamily="34" charset="-120"/>
              </a:rPr>
              <a:t>Decide</a:t>
            </a:r>
            <a:endParaRPr lang="en-US" sz="1900" dirty="0"/>
          </a:p>
        </p:txBody>
      </p:sp>
      <p:sp>
        <p:nvSpPr>
          <p:cNvPr id="15" name="Text 13"/>
          <p:cNvSpPr/>
          <p:nvPr/>
        </p:nvSpPr>
        <p:spPr>
          <a:xfrm>
            <a:off x="8250767" y="3102905"/>
            <a:ext cx="295630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When it is Final, reassess for tests, tooling and small services.</a:t>
            </a:r>
            <a:endParaRPr lang="en-US" sz="1400" dirty="0"/>
          </a:p>
        </p:txBody>
      </p:sp>
      <p:sp>
        <p:nvSpPr>
          <p:cNvPr id="16" name="Text 14"/>
          <p:cNvSpPr/>
          <p:nvPr/>
        </p:nvSpPr>
        <p:spPr>
          <a:xfrm>
            <a:off x="812800" y="4412655"/>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Ask: </a:t>
            </a:r>
            <a:r>
              <a:rPr lang="en-US" sz="1500" b="1" dirty="0">
                <a:solidFill>
                  <a:srgbClr val="14213D"/>
                </a:solidFill>
                <a:latin typeface="IBM Plex Sans" pitchFamily="34" charset="0"/>
                <a:ea typeface="IBM Plex Sans" pitchFamily="34" charset="-122"/>
                <a:cs typeface="IBM Plex Sans" pitchFamily="34" charset="-120"/>
              </a:rPr>
              <a:t>[1–2 volunteers]</a:t>
            </a:r>
            <a:r>
              <a:rPr lang="en-US" sz="1500" dirty="0">
                <a:solidFill>
                  <a:srgbClr val="4A5568"/>
                </a:solidFill>
                <a:latin typeface="IBM Plex Sans" pitchFamily="34" charset="0"/>
                <a:ea typeface="IBM Plex Sans" pitchFamily="34" charset="-122"/>
                <a:cs typeface="IBM Plex Sans" pitchFamily="34" charset="-120"/>
              </a:rPr>
              <a:t> and </a:t>
            </a:r>
            <a:r>
              <a:rPr lang="en-US" sz="1500" b="1" dirty="0">
                <a:solidFill>
                  <a:srgbClr val="14213D"/>
                </a:solidFill>
                <a:latin typeface="IBM Plex Sans" pitchFamily="34" charset="0"/>
                <a:ea typeface="IBM Plex Sans" pitchFamily="34" charset="-122"/>
                <a:cs typeface="IBM Plex Sans" pitchFamily="34" charset="-120"/>
              </a:rPr>
              <a:t>[__ days]</a:t>
            </a:r>
            <a:r>
              <a:rPr lang="en-US" sz="1500" dirty="0">
                <a:solidFill>
                  <a:srgbClr val="4A5568"/>
                </a:solidFill>
                <a:latin typeface="IBM Plex Sans" pitchFamily="34" charset="0"/>
                <a:ea typeface="IBM Plex Sans" pitchFamily="34" charset="-122"/>
                <a:cs typeface="IBM Plex Sans" pitchFamily="34" charset="-120"/>
              </a:rPr>
              <a:t> of exploration time.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73493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07A2F"/>
                </a:solidFill>
                <a:latin typeface="JetBrains Mono" pitchFamily="49" charset="0"/>
                <a:ea typeface="JetBrains Mono" pitchFamily="49" charset="-122"/>
                <a:cs typeface="JetBrains Mono" pitchFamily="49" charset="-120"/>
              </a:rPr>
              <a:t>TL;DR</a:t>
            </a:r>
            <a:endParaRPr lang="en-US" sz="1200" dirty="0"/>
          </a:p>
        </p:txBody>
      </p:sp>
      <p:sp>
        <p:nvSpPr>
          <p:cNvPr id="3" name="Text 1"/>
          <p:cNvSpPr/>
          <p:nvPr>
            <p:ph type="title"/>
          </p:nvPr>
        </p:nvSpPr>
        <p:spPr>
          <a:xfrm>
            <a:off x="812800" y="2253059"/>
            <a:ext cx="9810750" cy="1254654"/>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7F6F2"/>
                </a:solidFill>
                <a:latin typeface="IBM Plex Sans" pitchFamily="34" charset="0"/>
                <a:ea typeface="IBM Plex Sans" pitchFamily="34" charset="-122"/>
                <a:cs typeface="IBM Plex Sans" pitchFamily="34" charset="-120"/>
              </a:rPr>
              <a:t>A JSON API for when you don’t have anything else.</a:t>
            </a:r>
            <a:endParaRPr lang="en-US" sz="4400" dirty="0"/>
          </a:p>
        </p:txBody>
      </p:sp>
      <p:sp>
        <p:nvSpPr>
          <p:cNvPr id="4" name="Shape 2"/>
          <p:cNvSpPr/>
          <p:nvPr/>
        </p:nvSpPr>
        <p:spPr>
          <a:xfrm>
            <a:off x="812800" y="3799818"/>
            <a:ext cx="3318933" cy="0"/>
          </a:xfrm>
          <a:prstGeom prst="line">
            <a:avLst/>
          </a:prstGeom>
          <a:noFill/>
          <a:ln w="25400">
            <a:solidFill>
              <a:srgbClr val="E07A2F"/>
            </a:solidFill>
            <a:prstDash val="solid"/>
          </a:ln>
        </p:spPr>
      </p:sp>
      <p:sp>
        <p:nvSpPr>
          <p:cNvPr id="5" name="Text 3"/>
          <p:cNvSpPr/>
          <p:nvPr/>
        </p:nvSpPr>
        <p:spPr>
          <a:xfrm>
            <a:off x="812800" y="3964918"/>
            <a:ext cx="3418501"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8D9"/>
                </a:solidFill>
                <a:latin typeface="IBM Plex Sans" pitchFamily="34" charset="0"/>
                <a:ea typeface="IBM Plex Sans" pitchFamily="34" charset="-122"/>
                <a:cs typeface="IBM Plex Sans" pitchFamily="34" charset="-120"/>
              </a:rPr>
              <a:t>Built into JDK 28, opt-in incubator</a:t>
            </a:r>
            <a:endParaRPr lang="en-US" sz="1600" dirty="0"/>
          </a:p>
        </p:txBody>
      </p:sp>
      <p:sp>
        <p:nvSpPr>
          <p:cNvPr id="6" name="Shape 4"/>
          <p:cNvSpPr/>
          <p:nvPr/>
        </p:nvSpPr>
        <p:spPr>
          <a:xfrm>
            <a:off x="4436533" y="3799818"/>
            <a:ext cx="3318933" cy="0"/>
          </a:xfrm>
          <a:prstGeom prst="line">
            <a:avLst/>
          </a:prstGeom>
          <a:noFill/>
          <a:ln w="25400">
            <a:solidFill>
              <a:srgbClr val="E07A2F"/>
            </a:solidFill>
            <a:prstDash val="solid"/>
          </a:ln>
        </p:spPr>
      </p:sp>
      <p:sp>
        <p:nvSpPr>
          <p:cNvPr id="7" name="Text 5"/>
          <p:cNvSpPr/>
          <p:nvPr/>
        </p:nvSpPr>
        <p:spPr>
          <a:xfrm>
            <a:off x="4436533" y="3964918"/>
            <a:ext cx="3418501"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8D9"/>
                </a:solidFill>
                <a:latin typeface="IBM Plex Sans" pitchFamily="34" charset="0"/>
                <a:ea typeface="IBM Plex Sans" pitchFamily="34" charset="-122"/>
                <a:cs typeface="IBM Plex Sans" pitchFamily="34" charset="-120"/>
              </a:rPr>
              <a:t>Nothing changes for Java 21 / 25</a:t>
            </a:r>
            <a:endParaRPr lang="en-US" sz="1600" dirty="0"/>
          </a:p>
        </p:txBody>
      </p:sp>
      <p:sp>
        <p:nvSpPr>
          <p:cNvPr id="8" name="Shape 6"/>
          <p:cNvSpPr/>
          <p:nvPr/>
        </p:nvSpPr>
        <p:spPr>
          <a:xfrm>
            <a:off x="8060267" y="3799818"/>
            <a:ext cx="3318933" cy="0"/>
          </a:xfrm>
          <a:prstGeom prst="line">
            <a:avLst/>
          </a:prstGeom>
          <a:noFill/>
          <a:ln w="25400">
            <a:solidFill>
              <a:srgbClr val="E07A2F"/>
            </a:solidFill>
            <a:prstDash val="solid"/>
          </a:ln>
        </p:spPr>
      </p:sp>
      <p:sp>
        <p:nvSpPr>
          <p:cNvPr id="9" name="Text 7"/>
          <p:cNvSpPr/>
          <p:nvPr/>
        </p:nvSpPr>
        <p:spPr>
          <a:xfrm>
            <a:off x="8060267" y="3964918"/>
            <a:ext cx="3418501"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8D9"/>
                </a:solidFill>
                <a:latin typeface="IBM Plex Sans" pitchFamily="34" charset="0"/>
                <a:ea typeface="IBM Plex Sans" pitchFamily="34" charset="-122"/>
                <a:cs typeface="IBM Plex Sans" pitchFamily="34" charset="-120"/>
              </a:rPr>
              <a:t>Try it now, shape it, adopt it when Final</a:t>
            </a:r>
            <a:endParaRPr lang="en-US" sz="1600" dirty="0"/>
          </a:p>
        </p:txBody>
      </p:sp>
      <p:sp>
        <p:nvSpPr>
          <p:cNvPr id="10" name="Text 8"/>
          <p:cNvSpPr/>
          <p:nvPr/>
        </p:nvSpPr>
        <p:spPr>
          <a:xfrm>
            <a:off x="812800" y="4838576"/>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7F6F2"/>
                </a:solidFill>
                <a:latin typeface="IBM Plex Sans" pitchFamily="34" charset="0"/>
                <a:ea typeface="IBM Plex Sans" pitchFamily="34" charset="-122"/>
                <a:cs typeface="IBM Plex Sans" pitchFamily="34" charset="-120"/>
              </a:rPr>
              <a:t>Questions? · openjdk.org/jeps/540</a:t>
            </a:r>
            <a:endParaRPr lang="en-US" sz="1600" dirty="0"/>
          </a:p>
        </p:txBody>
      </p:sp>
    </p:spTree>
  </p:cSld>
  <p:clrMapOvr>
    <a:masterClrMapping/>
  </p:clrMapOvr>
</p:sld>
</file>

<file path=ppt/theme/theme1.xml><?xml version="1.0" encoding="utf-8"?>
<a:theme xmlns:a="http://schemas.openxmlformats.org/drawingml/2006/main" name="Everyday JSON in the JDK">
  <a:themeElements>
    <a:clrScheme name="Everyday JSON in the JDK">
      <a:dk1>
        <a:srgbClr val="14213D"/>
      </a:dk1>
      <a:lt1>
        <a:srgbClr val="F7F6F2"/>
      </a:lt1>
      <a:dk2>
        <a:srgbClr val="4D566A"/>
      </a:dk2>
      <a:lt2>
        <a:srgbClr val="E0E1E0"/>
      </a:lt2>
      <a:accent1>
        <a:srgbClr val="B4531B"/>
      </a:accent1>
      <a:accent2>
        <a:srgbClr val="2F5FD0"/>
      </a:accent2>
      <a:accent3>
        <a:srgbClr val="8FA3BF"/>
      </a:accent3>
      <a:accent4>
        <a:srgbClr val="E07A2F"/>
      </a:accent4>
      <a:accent5>
        <a:srgbClr val="4A5568"/>
      </a:accent5>
      <a:accent6>
        <a:srgbClr val="BFC8D9"/>
      </a:accent6>
      <a:hlink>
        <a:srgbClr val="0563C1"/>
      </a:hlink>
      <a:folHlink>
        <a:srgbClr val="954F72"/>
      </a:folHlink>
    </a:clrScheme>
    <a:fontScheme name="Everyday JSON in the JDK">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Everyday JSON in the JDK</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2026-10-21T16:03:58Z</dcterms:created>
  <dcterms:modified xsi:type="dcterms:W3CDTF">2026-10-21T16:03:58Z</dcterms:modified>
</cp:coreProperties>
</file>